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302" r:id="rId3"/>
    <p:sldId id="303" r:id="rId4"/>
    <p:sldId id="311" r:id="rId5"/>
    <p:sldId id="283" r:id="rId6"/>
    <p:sldId id="298" r:id="rId7"/>
    <p:sldId id="300" r:id="rId8"/>
    <p:sldId id="301" r:id="rId9"/>
    <p:sldId id="304" r:id="rId10"/>
    <p:sldId id="313" r:id="rId11"/>
    <p:sldId id="305" r:id="rId12"/>
    <p:sldId id="314" r:id="rId13"/>
    <p:sldId id="306" r:id="rId14"/>
    <p:sldId id="308" r:id="rId15"/>
    <p:sldId id="309" r:id="rId16"/>
    <p:sldId id="310" r:id="rId17"/>
    <p:sldId id="315"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1027" autoAdjust="0"/>
  </p:normalViewPr>
  <p:slideViewPr>
    <p:cSldViewPr>
      <p:cViewPr varScale="1">
        <p:scale>
          <a:sx n="75" d="100"/>
          <a:sy n="75" d="100"/>
        </p:scale>
        <p:origin x="1205"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CA39DC5-9262-4E1C-9B59-92B009FABF96}" type="datetimeFigureOut">
              <a:rPr lang="en-IN" smtClean="0"/>
              <a:t>10-04-2024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BB863F6-27DD-4CCD-A0E3-E6B91D1DF135}" type="slidenum">
              <a:rPr lang="en-IN" smtClean="0"/>
              <a:t>‹#›</a:t>
            </a:fld>
            <a:endParaRPr lang="en-IN"/>
          </a:p>
        </p:txBody>
      </p:sp>
    </p:spTree>
    <p:extLst>
      <p:ext uri="{BB962C8B-B14F-4D97-AF65-F5344CB8AC3E}">
        <p14:creationId xmlns:p14="http://schemas.microsoft.com/office/powerpoint/2010/main" val="3788389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B863F6-27DD-4CCD-A0E3-E6B91D1DF135}" type="slidenum">
              <a:rPr lang="en-IN" smtClean="0"/>
              <a:t>6</a:t>
            </a:fld>
            <a:endParaRPr lang="en-IN"/>
          </a:p>
        </p:txBody>
      </p:sp>
    </p:spTree>
    <p:extLst>
      <p:ext uri="{BB962C8B-B14F-4D97-AF65-F5344CB8AC3E}">
        <p14:creationId xmlns:p14="http://schemas.microsoft.com/office/powerpoint/2010/main" val="1905773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1271432" y="3297925"/>
            <a:ext cx="373448" cy="2485660"/>
          </a:xfrm>
          <a:prstGeom prst="rect">
            <a:avLst/>
          </a:prstGeom>
        </p:spPr>
      </p:pic>
      <p:sp>
        <p:nvSpPr>
          <p:cNvPr id="17" name="bg object 17"/>
          <p:cNvSpPr/>
          <p:nvPr/>
        </p:nvSpPr>
        <p:spPr>
          <a:xfrm>
            <a:off x="11340083" y="3366516"/>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2"/>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FF0000"/>
          </a:solidFill>
        </p:spPr>
        <p:txBody>
          <a:bodyPr wrap="square" lIns="0" tIns="0" rIns="0" bIns="0" rtlCol="0"/>
          <a:lstStyle/>
          <a:p>
            <a:endParaRPr/>
          </a:p>
        </p:txBody>
      </p:sp>
      <p:sp>
        <p:nvSpPr>
          <p:cNvPr id="18" name="bg object 18"/>
          <p:cNvSpPr/>
          <p:nvPr/>
        </p:nvSpPr>
        <p:spPr>
          <a:xfrm>
            <a:off x="11340083" y="3366516"/>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2"/>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FF0000"/>
            </a:solidFill>
          </a:ln>
        </p:spPr>
        <p:txBody>
          <a:bodyPr wrap="square" lIns="0" tIns="0" rIns="0" bIns="0" rtlCol="0"/>
          <a:lstStyle/>
          <a:p>
            <a:endParaRPr/>
          </a:p>
        </p:txBody>
      </p:sp>
      <p:sp>
        <p:nvSpPr>
          <p:cNvPr id="19" name="bg object 19"/>
          <p:cNvSpPr/>
          <p:nvPr/>
        </p:nvSpPr>
        <p:spPr>
          <a:xfrm>
            <a:off x="11340083" y="3630168"/>
            <a:ext cx="287020" cy="262255"/>
          </a:xfrm>
          <a:custGeom>
            <a:avLst/>
            <a:gdLst/>
            <a:ahLst/>
            <a:cxnLst/>
            <a:rect l="l" t="t" r="r" b="b"/>
            <a:pathLst>
              <a:path w="287020" h="262254">
                <a:moveTo>
                  <a:pt x="143256" y="0"/>
                </a:moveTo>
                <a:lnTo>
                  <a:pt x="97974" y="6681"/>
                </a:lnTo>
                <a:lnTo>
                  <a:pt x="58649" y="25286"/>
                </a:lnTo>
                <a:lnTo>
                  <a:pt x="27639" y="53656"/>
                </a:lnTo>
                <a:lnTo>
                  <a:pt x="7303" y="89635"/>
                </a:lnTo>
                <a:lnTo>
                  <a:pt x="0" y="131063"/>
                </a:lnTo>
                <a:lnTo>
                  <a:pt x="7303" y="172492"/>
                </a:lnTo>
                <a:lnTo>
                  <a:pt x="27639" y="208471"/>
                </a:lnTo>
                <a:lnTo>
                  <a:pt x="58649" y="236841"/>
                </a:lnTo>
                <a:lnTo>
                  <a:pt x="97974" y="255446"/>
                </a:lnTo>
                <a:lnTo>
                  <a:pt x="143256" y="262127"/>
                </a:lnTo>
                <a:lnTo>
                  <a:pt x="188537" y="255446"/>
                </a:lnTo>
                <a:lnTo>
                  <a:pt x="227862" y="236841"/>
                </a:lnTo>
                <a:lnTo>
                  <a:pt x="258872" y="208471"/>
                </a:lnTo>
                <a:lnTo>
                  <a:pt x="279208" y="172492"/>
                </a:lnTo>
                <a:lnTo>
                  <a:pt x="286512" y="131063"/>
                </a:lnTo>
                <a:lnTo>
                  <a:pt x="279208" y="89635"/>
                </a:lnTo>
                <a:lnTo>
                  <a:pt x="258872" y="53656"/>
                </a:lnTo>
                <a:lnTo>
                  <a:pt x="227862" y="25286"/>
                </a:lnTo>
                <a:lnTo>
                  <a:pt x="188537" y="6681"/>
                </a:lnTo>
                <a:lnTo>
                  <a:pt x="143256" y="0"/>
                </a:lnTo>
                <a:close/>
              </a:path>
            </a:pathLst>
          </a:custGeom>
          <a:solidFill>
            <a:srgbClr val="3333FF"/>
          </a:solidFill>
        </p:spPr>
        <p:txBody>
          <a:bodyPr wrap="square" lIns="0" tIns="0" rIns="0" bIns="0" rtlCol="0"/>
          <a:lstStyle/>
          <a:p>
            <a:endParaRPr/>
          </a:p>
        </p:txBody>
      </p:sp>
      <p:sp>
        <p:nvSpPr>
          <p:cNvPr id="20" name="bg object 20"/>
          <p:cNvSpPr/>
          <p:nvPr/>
        </p:nvSpPr>
        <p:spPr>
          <a:xfrm>
            <a:off x="11340083" y="3630168"/>
            <a:ext cx="287020" cy="262255"/>
          </a:xfrm>
          <a:custGeom>
            <a:avLst/>
            <a:gdLst/>
            <a:ahLst/>
            <a:cxnLst/>
            <a:rect l="l" t="t" r="r" b="b"/>
            <a:pathLst>
              <a:path w="287020" h="262254">
                <a:moveTo>
                  <a:pt x="143256" y="0"/>
                </a:moveTo>
                <a:lnTo>
                  <a:pt x="188537" y="6681"/>
                </a:lnTo>
                <a:lnTo>
                  <a:pt x="227862" y="25286"/>
                </a:lnTo>
                <a:lnTo>
                  <a:pt x="258872" y="53656"/>
                </a:lnTo>
                <a:lnTo>
                  <a:pt x="279208" y="89635"/>
                </a:lnTo>
                <a:lnTo>
                  <a:pt x="286512" y="131063"/>
                </a:lnTo>
                <a:lnTo>
                  <a:pt x="279208" y="172492"/>
                </a:lnTo>
                <a:lnTo>
                  <a:pt x="258872" y="208471"/>
                </a:lnTo>
                <a:lnTo>
                  <a:pt x="227862" y="236841"/>
                </a:lnTo>
                <a:lnTo>
                  <a:pt x="188537" y="255446"/>
                </a:lnTo>
                <a:lnTo>
                  <a:pt x="143256" y="262127"/>
                </a:lnTo>
                <a:lnTo>
                  <a:pt x="97974" y="255446"/>
                </a:lnTo>
                <a:lnTo>
                  <a:pt x="58649" y="236841"/>
                </a:lnTo>
                <a:lnTo>
                  <a:pt x="27639" y="208471"/>
                </a:lnTo>
                <a:lnTo>
                  <a:pt x="7303" y="172492"/>
                </a:lnTo>
                <a:lnTo>
                  <a:pt x="0" y="131063"/>
                </a:lnTo>
                <a:lnTo>
                  <a:pt x="7303" y="89635"/>
                </a:lnTo>
                <a:lnTo>
                  <a:pt x="27639" y="53656"/>
                </a:lnTo>
                <a:lnTo>
                  <a:pt x="58649" y="25286"/>
                </a:lnTo>
                <a:lnTo>
                  <a:pt x="97974" y="6681"/>
                </a:lnTo>
                <a:lnTo>
                  <a:pt x="143256" y="0"/>
                </a:lnTo>
                <a:close/>
              </a:path>
            </a:pathLst>
          </a:custGeom>
          <a:ln w="12700">
            <a:solidFill>
              <a:srgbClr val="3333FF"/>
            </a:solidFill>
          </a:ln>
        </p:spPr>
        <p:txBody>
          <a:bodyPr wrap="square" lIns="0" tIns="0" rIns="0" bIns="0" rtlCol="0"/>
          <a:lstStyle/>
          <a:p>
            <a:endParaRPr/>
          </a:p>
        </p:txBody>
      </p:sp>
      <p:sp>
        <p:nvSpPr>
          <p:cNvPr id="21" name="bg object 21"/>
          <p:cNvSpPr/>
          <p:nvPr/>
        </p:nvSpPr>
        <p:spPr>
          <a:xfrm>
            <a:off x="11340083" y="3904488"/>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1"/>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FFFF00"/>
          </a:solidFill>
        </p:spPr>
        <p:txBody>
          <a:bodyPr wrap="square" lIns="0" tIns="0" rIns="0" bIns="0" rtlCol="0"/>
          <a:lstStyle/>
          <a:p>
            <a:endParaRPr/>
          </a:p>
        </p:txBody>
      </p:sp>
      <p:sp>
        <p:nvSpPr>
          <p:cNvPr id="22" name="bg object 22"/>
          <p:cNvSpPr/>
          <p:nvPr/>
        </p:nvSpPr>
        <p:spPr>
          <a:xfrm>
            <a:off x="11340083" y="3904488"/>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1"/>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FFFF00"/>
            </a:solidFill>
          </a:ln>
        </p:spPr>
        <p:txBody>
          <a:bodyPr wrap="square" lIns="0" tIns="0" rIns="0" bIns="0" rtlCol="0"/>
          <a:lstStyle/>
          <a:p>
            <a:endParaRPr/>
          </a:p>
        </p:txBody>
      </p:sp>
      <p:sp>
        <p:nvSpPr>
          <p:cNvPr id="23" name="bg object 23"/>
          <p:cNvSpPr/>
          <p:nvPr/>
        </p:nvSpPr>
        <p:spPr>
          <a:xfrm>
            <a:off x="11340083" y="4177284"/>
            <a:ext cx="287020" cy="262255"/>
          </a:xfrm>
          <a:custGeom>
            <a:avLst/>
            <a:gdLst/>
            <a:ahLst/>
            <a:cxnLst/>
            <a:rect l="l" t="t" r="r" b="b"/>
            <a:pathLst>
              <a:path w="287020" h="262254">
                <a:moveTo>
                  <a:pt x="143256" y="0"/>
                </a:moveTo>
                <a:lnTo>
                  <a:pt x="97974" y="6681"/>
                </a:lnTo>
                <a:lnTo>
                  <a:pt x="58649" y="25286"/>
                </a:lnTo>
                <a:lnTo>
                  <a:pt x="27639" y="53656"/>
                </a:lnTo>
                <a:lnTo>
                  <a:pt x="7303" y="89635"/>
                </a:lnTo>
                <a:lnTo>
                  <a:pt x="0" y="131064"/>
                </a:lnTo>
                <a:lnTo>
                  <a:pt x="7303" y="172492"/>
                </a:lnTo>
                <a:lnTo>
                  <a:pt x="27639" y="208471"/>
                </a:lnTo>
                <a:lnTo>
                  <a:pt x="58649" y="236841"/>
                </a:lnTo>
                <a:lnTo>
                  <a:pt x="97974" y="255446"/>
                </a:lnTo>
                <a:lnTo>
                  <a:pt x="143256" y="262128"/>
                </a:lnTo>
                <a:lnTo>
                  <a:pt x="188537" y="255446"/>
                </a:lnTo>
                <a:lnTo>
                  <a:pt x="227862" y="236841"/>
                </a:lnTo>
                <a:lnTo>
                  <a:pt x="258872" y="208471"/>
                </a:lnTo>
                <a:lnTo>
                  <a:pt x="279208" y="172492"/>
                </a:lnTo>
                <a:lnTo>
                  <a:pt x="286512" y="131064"/>
                </a:lnTo>
                <a:lnTo>
                  <a:pt x="279208" y="89635"/>
                </a:lnTo>
                <a:lnTo>
                  <a:pt x="258872" y="53656"/>
                </a:lnTo>
                <a:lnTo>
                  <a:pt x="227862" y="25286"/>
                </a:lnTo>
                <a:lnTo>
                  <a:pt x="188537" y="6681"/>
                </a:lnTo>
                <a:lnTo>
                  <a:pt x="143256" y="0"/>
                </a:lnTo>
                <a:close/>
              </a:path>
            </a:pathLst>
          </a:custGeom>
          <a:solidFill>
            <a:srgbClr val="00AF50"/>
          </a:solidFill>
        </p:spPr>
        <p:txBody>
          <a:bodyPr wrap="square" lIns="0" tIns="0" rIns="0" bIns="0" rtlCol="0"/>
          <a:lstStyle/>
          <a:p>
            <a:endParaRPr/>
          </a:p>
        </p:txBody>
      </p:sp>
      <p:sp>
        <p:nvSpPr>
          <p:cNvPr id="24" name="bg object 24"/>
          <p:cNvSpPr/>
          <p:nvPr/>
        </p:nvSpPr>
        <p:spPr>
          <a:xfrm>
            <a:off x="11340083" y="4177284"/>
            <a:ext cx="287020" cy="262255"/>
          </a:xfrm>
          <a:custGeom>
            <a:avLst/>
            <a:gdLst/>
            <a:ahLst/>
            <a:cxnLst/>
            <a:rect l="l" t="t" r="r" b="b"/>
            <a:pathLst>
              <a:path w="287020" h="262254">
                <a:moveTo>
                  <a:pt x="143256" y="0"/>
                </a:moveTo>
                <a:lnTo>
                  <a:pt x="188537" y="6681"/>
                </a:lnTo>
                <a:lnTo>
                  <a:pt x="227862" y="25286"/>
                </a:lnTo>
                <a:lnTo>
                  <a:pt x="258872" y="53656"/>
                </a:lnTo>
                <a:lnTo>
                  <a:pt x="279208" y="89635"/>
                </a:lnTo>
                <a:lnTo>
                  <a:pt x="286512" y="131064"/>
                </a:lnTo>
                <a:lnTo>
                  <a:pt x="279208" y="172492"/>
                </a:lnTo>
                <a:lnTo>
                  <a:pt x="258872" y="208471"/>
                </a:lnTo>
                <a:lnTo>
                  <a:pt x="227862" y="236841"/>
                </a:lnTo>
                <a:lnTo>
                  <a:pt x="188537" y="255446"/>
                </a:lnTo>
                <a:lnTo>
                  <a:pt x="143256" y="262128"/>
                </a:lnTo>
                <a:lnTo>
                  <a:pt x="97974" y="255446"/>
                </a:lnTo>
                <a:lnTo>
                  <a:pt x="58649" y="236841"/>
                </a:lnTo>
                <a:lnTo>
                  <a:pt x="27639" y="208471"/>
                </a:lnTo>
                <a:lnTo>
                  <a:pt x="7303" y="172492"/>
                </a:lnTo>
                <a:lnTo>
                  <a:pt x="0" y="131064"/>
                </a:lnTo>
                <a:lnTo>
                  <a:pt x="7303" y="89635"/>
                </a:lnTo>
                <a:lnTo>
                  <a:pt x="27639" y="53656"/>
                </a:lnTo>
                <a:lnTo>
                  <a:pt x="58649" y="25286"/>
                </a:lnTo>
                <a:lnTo>
                  <a:pt x="97974" y="6681"/>
                </a:lnTo>
                <a:lnTo>
                  <a:pt x="143256" y="0"/>
                </a:lnTo>
                <a:close/>
              </a:path>
            </a:pathLst>
          </a:custGeom>
          <a:ln w="12700">
            <a:solidFill>
              <a:srgbClr val="00AF50"/>
            </a:solidFill>
          </a:ln>
        </p:spPr>
        <p:txBody>
          <a:bodyPr wrap="square" lIns="0" tIns="0" rIns="0" bIns="0" rtlCol="0"/>
          <a:lstStyle/>
          <a:p>
            <a:endParaRPr/>
          </a:p>
        </p:txBody>
      </p:sp>
      <p:sp>
        <p:nvSpPr>
          <p:cNvPr id="25" name="bg object 25"/>
          <p:cNvSpPr/>
          <p:nvPr/>
        </p:nvSpPr>
        <p:spPr>
          <a:xfrm>
            <a:off x="11340083" y="4439412"/>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1"/>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BEBEBE"/>
          </a:solidFill>
        </p:spPr>
        <p:txBody>
          <a:bodyPr wrap="square" lIns="0" tIns="0" rIns="0" bIns="0" rtlCol="0"/>
          <a:lstStyle/>
          <a:p>
            <a:endParaRPr/>
          </a:p>
        </p:txBody>
      </p:sp>
      <p:sp>
        <p:nvSpPr>
          <p:cNvPr id="26" name="bg object 26"/>
          <p:cNvSpPr/>
          <p:nvPr/>
        </p:nvSpPr>
        <p:spPr>
          <a:xfrm>
            <a:off x="11340083" y="4439412"/>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1"/>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BEBEBE"/>
            </a:solidFill>
          </a:ln>
        </p:spPr>
        <p:txBody>
          <a:bodyPr wrap="square" lIns="0" tIns="0" rIns="0" bIns="0" rtlCol="0"/>
          <a:lstStyle/>
          <a:p>
            <a:endParaRPr/>
          </a:p>
        </p:txBody>
      </p:sp>
      <p:sp>
        <p:nvSpPr>
          <p:cNvPr id="27" name="bg object 27"/>
          <p:cNvSpPr/>
          <p:nvPr/>
        </p:nvSpPr>
        <p:spPr>
          <a:xfrm>
            <a:off x="11340083" y="4703064"/>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2"/>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FFFFFF"/>
          </a:solidFill>
        </p:spPr>
        <p:txBody>
          <a:bodyPr wrap="square" lIns="0" tIns="0" rIns="0" bIns="0" rtlCol="0"/>
          <a:lstStyle/>
          <a:p>
            <a:endParaRPr/>
          </a:p>
        </p:txBody>
      </p:sp>
      <p:sp>
        <p:nvSpPr>
          <p:cNvPr id="28" name="bg object 28"/>
          <p:cNvSpPr/>
          <p:nvPr/>
        </p:nvSpPr>
        <p:spPr>
          <a:xfrm>
            <a:off x="11340083" y="4703064"/>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2"/>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D9D9D9"/>
            </a:solidFill>
          </a:ln>
        </p:spPr>
        <p:txBody>
          <a:bodyPr wrap="square" lIns="0" tIns="0" rIns="0" bIns="0" rtlCol="0"/>
          <a:lstStyle/>
          <a:p>
            <a:endParaRPr/>
          </a:p>
        </p:txBody>
      </p:sp>
      <p:sp>
        <p:nvSpPr>
          <p:cNvPr id="29" name="bg object 29"/>
          <p:cNvSpPr/>
          <p:nvPr/>
        </p:nvSpPr>
        <p:spPr>
          <a:xfrm>
            <a:off x="11340083" y="4968240"/>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6"/>
                </a:lnTo>
                <a:lnTo>
                  <a:pt x="7303" y="173479"/>
                </a:lnTo>
                <a:lnTo>
                  <a:pt x="27639" y="209665"/>
                </a:lnTo>
                <a:lnTo>
                  <a:pt x="58649" y="238207"/>
                </a:lnTo>
                <a:lnTo>
                  <a:pt x="97974" y="256928"/>
                </a:lnTo>
                <a:lnTo>
                  <a:pt x="143256" y="263652"/>
                </a:lnTo>
                <a:lnTo>
                  <a:pt x="188537" y="256928"/>
                </a:lnTo>
                <a:lnTo>
                  <a:pt x="227862" y="238207"/>
                </a:lnTo>
                <a:lnTo>
                  <a:pt x="258872" y="209665"/>
                </a:lnTo>
                <a:lnTo>
                  <a:pt x="279208" y="173479"/>
                </a:lnTo>
                <a:lnTo>
                  <a:pt x="286512" y="131826"/>
                </a:lnTo>
                <a:lnTo>
                  <a:pt x="279208" y="90172"/>
                </a:lnTo>
                <a:lnTo>
                  <a:pt x="258872" y="53986"/>
                </a:lnTo>
                <a:lnTo>
                  <a:pt x="227862" y="25444"/>
                </a:lnTo>
                <a:lnTo>
                  <a:pt x="188537" y="6723"/>
                </a:lnTo>
                <a:lnTo>
                  <a:pt x="143256" y="0"/>
                </a:lnTo>
                <a:close/>
              </a:path>
            </a:pathLst>
          </a:custGeom>
          <a:solidFill>
            <a:srgbClr val="FFC000"/>
          </a:solidFill>
        </p:spPr>
        <p:txBody>
          <a:bodyPr wrap="square" lIns="0" tIns="0" rIns="0" bIns="0" rtlCol="0"/>
          <a:lstStyle/>
          <a:p>
            <a:endParaRPr/>
          </a:p>
        </p:txBody>
      </p:sp>
      <p:sp>
        <p:nvSpPr>
          <p:cNvPr id="30" name="bg object 30"/>
          <p:cNvSpPr/>
          <p:nvPr/>
        </p:nvSpPr>
        <p:spPr>
          <a:xfrm>
            <a:off x="11340083" y="4968240"/>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6"/>
                </a:lnTo>
                <a:lnTo>
                  <a:pt x="279208" y="173479"/>
                </a:lnTo>
                <a:lnTo>
                  <a:pt x="258872" y="209665"/>
                </a:lnTo>
                <a:lnTo>
                  <a:pt x="227862" y="238207"/>
                </a:lnTo>
                <a:lnTo>
                  <a:pt x="188537" y="256928"/>
                </a:lnTo>
                <a:lnTo>
                  <a:pt x="143256" y="263652"/>
                </a:lnTo>
                <a:lnTo>
                  <a:pt x="97974" y="256928"/>
                </a:lnTo>
                <a:lnTo>
                  <a:pt x="58649" y="238207"/>
                </a:lnTo>
                <a:lnTo>
                  <a:pt x="27639" y="209665"/>
                </a:lnTo>
                <a:lnTo>
                  <a:pt x="7303" y="173479"/>
                </a:lnTo>
                <a:lnTo>
                  <a:pt x="0" y="131826"/>
                </a:lnTo>
                <a:lnTo>
                  <a:pt x="7303" y="90172"/>
                </a:lnTo>
                <a:lnTo>
                  <a:pt x="27639" y="53986"/>
                </a:lnTo>
                <a:lnTo>
                  <a:pt x="58649" y="25444"/>
                </a:lnTo>
                <a:lnTo>
                  <a:pt x="97974" y="6723"/>
                </a:lnTo>
                <a:lnTo>
                  <a:pt x="143256" y="0"/>
                </a:lnTo>
                <a:close/>
              </a:path>
            </a:pathLst>
          </a:custGeom>
          <a:ln w="12700">
            <a:solidFill>
              <a:srgbClr val="FFC000"/>
            </a:solidFill>
          </a:ln>
        </p:spPr>
        <p:txBody>
          <a:bodyPr wrap="square" lIns="0" tIns="0" rIns="0" bIns="0" rtlCol="0"/>
          <a:lstStyle/>
          <a:p>
            <a:endParaRPr/>
          </a:p>
        </p:txBody>
      </p:sp>
      <p:sp>
        <p:nvSpPr>
          <p:cNvPr id="31" name="bg object 31"/>
          <p:cNvSpPr/>
          <p:nvPr/>
        </p:nvSpPr>
        <p:spPr>
          <a:xfrm>
            <a:off x="11340083" y="5241036"/>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1"/>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FF99FF"/>
          </a:solidFill>
        </p:spPr>
        <p:txBody>
          <a:bodyPr wrap="square" lIns="0" tIns="0" rIns="0" bIns="0" rtlCol="0"/>
          <a:lstStyle/>
          <a:p>
            <a:endParaRPr/>
          </a:p>
        </p:txBody>
      </p:sp>
      <p:sp>
        <p:nvSpPr>
          <p:cNvPr id="32" name="bg object 32"/>
          <p:cNvSpPr/>
          <p:nvPr/>
        </p:nvSpPr>
        <p:spPr>
          <a:xfrm>
            <a:off x="11340083" y="5241036"/>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1"/>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FF99FF"/>
            </a:solidFill>
          </a:ln>
        </p:spPr>
        <p:txBody>
          <a:bodyPr wrap="square" lIns="0" tIns="0" rIns="0" bIns="0" rtlCol="0"/>
          <a:lstStyle/>
          <a:p>
            <a:endParaRPr/>
          </a:p>
        </p:txBody>
      </p:sp>
      <p:sp>
        <p:nvSpPr>
          <p:cNvPr id="33" name="bg object 33"/>
          <p:cNvSpPr/>
          <p:nvPr/>
        </p:nvSpPr>
        <p:spPr>
          <a:xfrm>
            <a:off x="11340083" y="5501640"/>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6"/>
                </a:lnTo>
                <a:lnTo>
                  <a:pt x="7303" y="173494"/>
                </a:lnTo>
                <a:lnTo>
                  <a:pt x="27639" y="209682"/>
                </a:lnTo>
                <a:lnTo>
                  <a:pt x="58649" y="238218"/>
                </a:lnTo>
                <a:lnTo>
                  <a:pt x="97974" y="256931"/>
                </a:lnTo>
                <a:lnTo>
                  <a:pt x="143256" y="263652"/>
                </a:lnTo>
                <a:lnTo>
                  <a:pt x="188537" y="256931"/>
                </a:lnTo>
                <a:lnTo>
                  <a:pt x="227862" y="238218"/>
                </a:lnTo>
                <a:lnTo>
                  <a:pt x="258872" y="209682"/>
                </a:lnTo>
                <a:lnTo>
                  <a:pt x="279208" y="173494"/>
                </a:lnTo>
                <a:lnTo>
                  <a:pt x="286512" y="131826"/>
                </a:lnTo>
                <a:lnTo>
                  <a:pt x="279208" y="90172"/>
                </a:lnTo>
                <a:lnTo>
                  <a:pt x="258872" y="53986"/>
                </a:lnTo>
                <a:lnTo>
                  <a:pt x="227862" y="25444"/>
                </a:lnTo>
                <a:lnTo>
                  <a:pt x="188537" y="6723"/>
                </a:lnTo>
                <a:lnTo>
                  <a:pt x="143256" y="0"/>
                </a:lnTo>
                <a:close/>
              </a:path>
            </a:pathLst>
          </a:custGeom>
          <a:solidFill>
            <a:srgbClr val="00CCFF"/>
          </a:solidFill>
        </p:spPr>
        <p:txBody>
          <a:bodyPr wrap="square" lIns="0" tIns="0" rIns="0" bIns="0" rtlCol="0"/>
          <a:lstStyle/>
          <a:p>
            <a:endParaRPr/>
          </a:p>
        </p:txBody>
      </p:sp>
      <p:sp>
        <p:nvSpPr>
          <p:cNvPr id="34" name="bg object 34"/>
          <p:cNvSpPr/>
          <p:nvPr/>
        </p:nvSpPr>
        <p:spPr>
          <a:xfrm>
            <a:off x="11340083" y="5501640"/>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6"/>
                </a:lnTo>
                <a:lnTo>
                  <a:pt x="279208" y="173494"/>
                </a:lnTo>
                <a:lnTo>
                  <a:pt x="258872" y="209682"/>
                </a:lnTo>
                <a:lnTo>
                  <a:pt x="227862" y="238218"/>
                </a:lnTo>
                <a:lnTo>
                  <a:pt x="188537" y="256931"/>
                </a:lnTo>
                <a:lnTo>
                  <a:pt x="143256" y="263652"/>
                </a:lnTo>
                <a:lnTo>
                  <a:pt x="97974" y="256931"/>
                </a:lnTo>
                <a:lnTo>
                  <a:pt x="58649" y="238218"/>
                </a:lnTo>
                <a:lnTo>
                  <a:pt x="27639" y="209682"/>
                </a:lnTo>
                <a:lnTo>
                  <a:pt x="7303" y="173494"/>
                </a:lnTo>
                <a:lnTo>
                  <a:pt x="0" y="131826"/>
                </a:lnTo>
                <a:lnTo>
                  <a:pt x="7303" y="90172"/>
                </a:lnTo>
                <a:lnTo>
                  <a:pt x="27639" y="53986"/>
                </a:lnTo>
                <a:lnTo>
                  <a:pt x="58649" y="25444"/>
                </a:lnTo>
                <a:lnTo>
                  <a:pt x="97974" y="6723"/>
                </a:lnTo>
                <a:lnTo>
                  <a:pt x="143256" y="0"/>
                </a:lnTo>
                <a:close/>
              </a:path>
            </a:pathLst>
          </a:custGeom>
          <a:ln w="12700">
            <a:solidFill>
              <a:srgbClr val="00CCFF"/>
            </a:solidFill>
          </a:ln>
        </p:spPr>
        <p:txBody>
          <a:bodyPr wrap="square" lIns="0" tIns="0" rIns="0" bIns="0" rtlCol="0"/>
          <a:lstStyle/>
          <a:p>
            <a:endParaRPr/>
          </a:p>
        </p:txBody>
      </p:sp>
      <p:pic>
        <p:nvPicPr>
          <p:cNvPr id="35" name="bg object 35"/>
          <p:cNvPicPr/>
          <p:nvPr/>
        </p:nvPicPr>
        <p:blipFill>
          <a:blip r:embed="rId8" cstate="print"/>
          <a:stretch>
            <a:fillRect/>
          </a:stretch>
        </p:blipFill>
        <p:spPr>
          <a:xfrm>
            <a:off x="797001" y="6002964"/>
            <a:ext cx="2717392" cy="373448"/>
          </a:xfrm>
          <a:prstGeom prst="rect">
            <a:avLst/>
          </a:prstGeom>
        </p:spPr>
      </p:pic>
      <p:sp>
        <p:nvSpPr>
          <p:cNvPr id="36" name="bg object 36"/>
          <p:cNvSpPr/>
          <p:nvPr/>
        </p:nvSpPr>
        <p:spPr>
          <a:xfrm>
            <a:off x="838200" y="6082283"/>
            <a:ext cx="289560" cy="287020"/>
          </a:xfrm>
          <a:custGeom>
            <a:avLst/>
            <a:gdLst/>
            <a:ahLst/>
            <a:cxnLst/>
            <a:rect l="l" t="t" r="r" b="b"/>
            <a:pathLst>
              <a:path w="289559" h="287020">
                <a:moveTo>
                  <a:pt x="144780" y="0"/>
                </a:moveTo>
                <a:lnTo>
                  <a:pt x="99018" y="7303"/>
                </a:lnTo>
                <a:lnTo>
                  <a:pt x="59275" y="27639"/>
                </a:lnTo>
                <a:lnTo>
                  <a:pt x="27934" y="58649"/>
                </a:lnTo>
                <a:lnTo>
                  <a:pt x="7381" y="97974"/>
                </a:lnTo>
                <a:lnTo>
                  <a:pt x="0" y="143255"/>
                </a:lnTo>
                <a:lnTo>
                  <a:pt x="7381" y="188537"/>
                </a:lnTo>
                <a:lnTo>
                  <a:pt x="27934" y="227862"/>
                </a:lnTo>
                <a:lnTo>
                  <a:pt x="59275" y="258872"/>
                </a:lnTo>
                <a:lnTo>
                  <a:pt x="99018" y="279208"/>
                </a:lnTo>
                <a:lnTo>
                  <a:pt x="144780" y="286511"/>
                </a:lnTo>
                <a:lnTo>
                  <a:pt x="190541" y="279208"/>
                </a:lnTo>
                <a:lnTo>
                  <a:pt x="230284" y="258872"/>
                </a:lnTo>
                <a:lnTo>
                  <a:pt x="261625" y="227862"/>
                </a:lnTo>
                <a:lnTo>
                  <a:pt x="282178" y="188537"/>
                </a:lnTo>
                <a:lnTo>
                  <a:pt x="289559" y="143255"/>
                </a:lnTo>
                <a:lnTo>
                  <a:pt x="282178" y="97974"/>
                </a:lnTo>
                <a:lnTo>
                  <a:pt x="261625" y="58649"/>
                </a:lnTo>
                <a:lnTo>
                  <a:pt x="230284" y="27639"/>
                </a:lnTo>
                <a:lnTo>
                  <a:pt x="190541" y="7303"/>
                </a:lnTo>
                <a:lnTo>
                  <a:pt x="144780" y="0"/>
                </a:lnTo>
                <a:close/>
              </a:path>
            </a:pathLst>
          </a:custGeom>
          <a:solidFill>
            <a:srgbClr val="FF0000"/>
          </a:solidFill>
        </p:spPr>
        <p:txBody>
          <a:bodyPr wrap="square" lIns="0" tIns="0" rIns="0" bIns="0" rtlCol="0"/>
          <a:lstStyle/>
          <a:p>
            <a:endParaRPr/>
          </a:p>
        </p:txBody>
      </p:sp>
      <p:sp>
        <p:nvSpPr>
          <p:cNvPr id="37" name="bg object 37"/>
          <p:cNvSpPr/>
          <p:nvPr/>
        </p:nvSpPr>
        <p:spPr>
          <a:xfrm>
            <a:off x="838200" y="6082283"/>
            <a:ext cx="289560" cy="287020"/>
          </a:xfrm>
          <a:custGeom>
            <a:avLst/>
            <a:gdLst/>
            <a:ahLst/>
            <a:cxnLst/>
            <a:rect l="l" t="t" r="r" b="b"/>
            <a:pathLst>
              <a:path w="289559" h="287020">
                <a:moveTo>
                  <a:pt x="0" y="143255"/>
                </a:moveTo>
                <a:lnTo>
                  <a:pt x="7381" y="97974"/>
                </a:lnTo>
                <a:lnTo>
                  <a:pt x="27934" y="58649"/>
                </a:lnTo>
                <a:lnTo>
                  <a:pt x="59275" y="27639"/>
                </a:lnTo>
                <a:lnTo>
                  <a:pt x="99018" y="7303"/>
                </a:lnTo>
                <a:lnTo>
                  <a:pt x="144780" y="0"/>
                </a:lnTo>
                <a:lnTo>
                  <a:pt x="190541" y="7303"/>
                </a:lnTo>
                <a:lnTo>
                  <a:pt x="230284" y="27639"/>
                </a:lnTo>
                <a:lnTo>
                  <a:pt x="261625" y="58649"/>
                </a:lnTo>
                <a:lnTo>
                  <a:pt x="282178" y="97974"/>
                </a:lnTo>
                <a:lnTo>
                  <a:pt x="289559" y="143255"/>
                </a:lnTo>
                <a:lnTo>
                  <a:pt x="282178" y="188537"/>
                </a:lnTo>
                <a:lnTo>
                  <a:pt x="261625" y="227862"/>
                </a:lnTo>
                <a:lnTo>
                  <a:pt x="230284" y="258872"/>
                </a:lnTo>
                <a:lnTo>
                  <a:pt x="190541" y="279208"/>
                </a:lnTo>
                <a:lnTo>
                  <a:pt x="144780" y="286511"/>
                </a:lnTo>
                <a:lnTo>
                  <a:pt x="99018" y="279208"/>
                </a:lnTo>
                <a:lnTo>
                  <a:pt x="59275" y="258872"/>
                </a:lnTo>
                <a:lnTo>
                  <a:pt x="27934" y="227862"/>
                </a:lnTo>
                <a:lnTo>
                  <a:pt x="7381" y="188537"/>
                </a:lnTo>
                <a:lnTo>
                  <a:pt x="0" y="143255"/>
                </a:lnTo>
                <a:close/>
              </a:path>
            </a:pathLst>
          </a:custGeom>
          <a:ln w="12699">
            <a:solidFill>
              <a:srgbClr val="FF0000"/>
            </a:solidFill>
          </a:ln>
        </p:spPr>
        <p:txBody>
          <a:bodyPr wrap="square" lIns="0" tIns="0" rIns="0" bIns="0" rtlCol="0"/>
          <a:lstStyle/>
          <a:p>
            <a:endParaRPr/>
          </a:p>
        </p:txBody>
      </p:sp>
      <p:sp>
        <p:nvSpPr>
          <p:cNvPr id="38" name="bg object 38"/>
          <p:cNvSpPr/>
          <p:nvPr/>
        </p:nvSpPr>
        <p:spPr>
          <a:xfrm>
            <a:off x="1127760" y="6082283"/>
            <a:ext cx="289560" cy="287020"/>
          </a:xfrm>
          <a:custGeom>
            <a:avLst/>
            <a:gdLst/>
            <a:ahLst/>
            <a:cxnLst/>
            <a:rect l="l" t="t" r="r" b="b"/>
            <a:pathLst>
              <a:path w="289559" h="287020">
                <a:moveTo>
                  <a:pt x="144780" y="0"/>
                </a:moveTo>
                <a:lnTo>
                  <a:pt x="99018" y="7303"/>
                </a:lnTo>
                <a:lnTo>
                  <a:pt x="59275" y="27639"/>
                </a:lnTo>
                <a:lnTo>
                  <a:pt x="27934" y="58649"/>
                </a:lnTo>
                <a:lnTo>
                  <a:pt x="7381" y="97974"/>
                </a:lnTo>
                <a:lnTo>
                  <a:pt x="0" y="143255"/>
                </a:lnTo>
                <a:lnTo>
                  <a:pt x="7381" y="188537"/>
                </a:lnTo>
                <a:lnTo>
                  <a:pt x="27934" y="227862"/>
                </a:lnTo>
                <a:lnTo>
                  <a:pt x="59275" y="258872"/>
                </a:lnTo>
                <a:lnTo>
                  <a:pt x="99018" y="279208"/>
                </a:lnTo>
                <a:lnTo>
                  <a:pt x="144780"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80" y="0"/>
                </a:lnTo>
                <a:close/>
              </a:path>
            </a:pathLst>
          </a:custGeom>
          <a:solidFill>
            <a:srgbClr val="3333FF"/>
          </a:solidFill>
        </p:spPr>
        <p:txBody>
          <a:bodyPr wrap="square" lIns="0" tIns="0" rIns="0" bIns="0" rtlCol="0"/>
          <a:lstStyle/>
          <a:p>
            <a:endParaRPr/>
          </a:p>
        </p:txBody>
      </p:sp>
      <p:sp>
        <p:nvSpPr>
          <p:cNvPr id="39" name="bg object 39"/>
          <p:cNvSpPr/>
          <p:nvPr/>
        </p:nvSpPr>
        <p:spPr>
          <a:xfrm>
            <a:off x="1127760" y="6082283"/>
            <a:ext cx="289560" cy="287020"/>
          </a:xfrm>
          <a:custGeom>
            <a:avLst/>
            <a:gdLst/>
            <a:ahLst/>
            <a:cxnLst/>
            <a:rect l="l" t="t" r="r" b="b"/>
            <a:pathLst>
              <a:path w="289559" h="287020">
                <a:moveTo>
                  <a:pt x="0" y="143255"/>
                </a:moveTo>
                <a:lnTo>
                  <a:pt x="7381" y="97974"/>
                </a:lnTo>
                <a:lnTo>
                  <a:pt x="27934" y="58649"/>
                </a:lnTo>
                <a:lnTo>
                  <a:pt x="59275" y="27639"/>
                </a:lnTo>
                <a:lnTo>
                  <a:pt x="99018" y="7303"/>
                </a:lnTo>
                <a:lnTo>
                  <a:pt x="144780"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80" y="286511"/>
                </a:lnTo>
                <a:lnTo>
                  <a:pt x="99018" y="279208"/>
                </a:lnTo>
                <a:lnTo>
                  <a:pt x="59275" y="258872"/>
                </a:lnTo>
                <a:lnTo>
                  <a:pt x="27934" y="227862"/>
                </a:lnTo>
                <a:lnTo>
                  <a:pt x="7381" y="188537"/>
                </a:lnTo>
                <a:lnTo>
                  <a:pt x="0" y="143255"/>
                </a:lnTo>
                <a:close/>
              </a:path>
            </a:pathLst>
          </a:custGeom>
          <a:ln w="12699">
            <a:solidFill>
              <a:srgbClr val="3333FF"/>
            </a:solidFill>
          </a:ln>
        </p:spPr>
        <p:txBody>
          <a:bodyPr wrap="square" lIns="0" tIns="0" rIns="0" bIns="0" rtlCol="0"/>
          <a:lstStyle/>
          <a:p>
            <a:endParaRPr/>
          </a:p>
        </p:txBody>
      </p:sp>
      <p:sp>
        <p:nvSpPr>
          <p:cNvPr id="40" name="bg object 40"/>
          <p:cNvSpPr/>
          <p:nvPr/>
        </p:nvSpPr>
        <p:spPr>
          <a:xfrm>
            <a:off x="1429512" y="6082283"/>
            <a:ext cx="289560" cy="287020"/>
          </a:xfrm>
          <a:custGeom>
            <a:avLst/>
            <a:gdLst/>
            <a:ahLst/>
            <a:cxnLst/>
            <a:rect l="l" t="t" r="r" b="b"/>
            <a:pathLst>
              <a:path w="289560" h="287020">
                <a:moveTo>
                  <a:pt x="144779"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79" y="286511"/>
                </a:lnTo>
                <a:lnTo>
                  <a:pt x="190560" y="279208"/>
                </a:lnTo>
                <a:lnTo>
                  <a:pt x="230306" y="258872"/>
                </a:lnTo>
                <a:lnTo>
                  <a:pt x="261640" y="227862"/>
                </a:lnTo>
                <a:lnTo>
                  <a:pt x="282183" y="188537"/>
                </a:lnTo>
                <a:lnTo>
                  <a:pt x="289560" y="143255"/>
                </a:lnTo>
                <a:lnTo>
                  <a:pt x="282183" y="97974"/>
                </a:lnTo>
                <a:lnTo>
                  <a:pt x="261640" y="58649"/>
                </a:lnTo>
                <a:lnTo>
                  <a:pt x="230306" y="27639"/>
                </a:lnTo>
                <a:lnTo>
                  <a:pt x="190560" y="7303"/>
                </a:lnTo>
                <a:lnTo>
                  <a:pt x="144779" y="0"/>
                </a:lnTo>
                <a:close/>
              </a:path>
            </a:pathLst>
          </a:custGeom>
          <a:solidFill>
            <a:srgbClr val="FFFF00"/>
          </a:solidFill>
        </p:spPr>
        <p:txBody>
          <a:bodyPr wrap="square" lIns="0" tIns="0" rIns="0" bIns="0" rtlCol="0"/>
          <a:lstStyle/>
          <a:p>
            <a:endParaRPr/>
          </a:p>
        </p:txBody>
      </p:sp>
      <p:sp>
        <p:nvSpPr>
          <p:cNvPr id="41" name="bg object 41"/>
          <p:cNvSpPr/>
          <p:nvPr/>
        </p:nvSpPr>
        <p:spPr>
          <a:xfrm>
            <a:off x="1429512"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79" y="0"/>
                </a:lnTo>
                <a:lnTo>
                  <a:pt x="190560" y="7303"/>
                </a:lnTo>
                <a:lnTo>
                  <a:pt x="230306" y="27639"/>
                </a:lnTo>
                <a:lnTo>
                  <a:pt x="261640" y="58649"/>
                </a:lnTo>
                <a:lnTo>
                  <a:pt x="282183" y="97974"/>
                </a:lnTo>
                <a:lnTo>
                  <a:pt x="289560" y="143255"/>
                </a:lnTo>
                <a:lnTo>
                  <a:pt x="282183" y="188537"/>
                </a:lnTo>
                <a:lnTo>
                  <a:pt x="261640" y="227862"/>
                </a:lnTo>
                <a:lnTo>
                  <a:pt x="230306" y="258872"/>
                </a:lnTo>
                <a:lnTo>
                  <a:pt x="190560" y="279208"/>
                </a:lnTo>
                <a:lnTo>
                  <a:pt x="144779" y="286511"/>
                </a:lnTo>
                <a:lnTo>
                  <a:pt x="98999" y="279208"/>
                </a:lnTo>
                <a:lnTo>
                  <a:pt x="59253" y="258872"/>
                </a:lnTo>
                <a:lnTo>
                  <a:pt x="27919" y="227862"/>
                </a:lnTo>
                <a:lnTo>
                  <a:pt x="7376" y="188537"/>
                </a:lnTo>
                <a:lnTo>
                  <a:pt x="0" y="143255"/>
                </a:lnTo>
                <a:close/>
              </a:path>
            </a:pathLst>
          </a:custGeom>
          <a:ln w="12700">
            <a:solidFill>
              <a:srgbClr val="FFFF00"/>
            </a:solidFill>
          </a:ln>
        </p:spPr>
        <p:txBody>
          <a:bodyPr wrap="square" lIns="0" tIns="0" rIns="0" bIns="0" rtlCol="0"/>
          <a:lstStyle/>
          <a:p>
            <a:endParaRPr/>
          </a:p>
        </p:txBody>
      </p:sp>
      <p:sp>
        <p:nvSpPr>
          <p:cNvPr id="42" name="bg object 42"/>
          <p:cNvSpPr/>
          <p:nvPr/>
        </p:nvSpPr>
        <p:spPr>
          <a:xfrm>
            <a:off x="1729739" y="6082283"/>
            <a:ext cx="289560" cy="287020"/>
          </a:xfrm>
          <a:custGeom>
            <a:avLst/>
            <a:gdLst/>
            <a:ahLst/>
            <a:cxnLst/>
            <a:rect l="l" t="t" r="r" b="b"/>
            <a:pathLst>
              <a:path w="289560" h="287020">
                <a:moveTo>
                  <a:pt x="144780"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80" y="286511"/>
                </a:lnTo>
                <a:lnTo>
                  <a:pt x="190560" y="279208"/>
                </a:lnTo>
                <a:lnTo>
                  <a:pt x="230306" y="258872"/>
                </a:lnTo>
                <a:lnTo>
                  <a:pt x="261640" y="227862"/>
                </a:lnTo>
                <a:lnTo>
                  <a:pt x="282183" y="188537"/>
                </a:lnTo>
                <a:lnTo>
                  <a:pt x="289560" y="143255"/>
                </a:lnTo>
                <a:lnTo>
                  <a:pt x="282183" y="97974"/>
                </a:lnTo>
                <a:lnTo>
                  <a:pt x="261640" y="58649"/>
                </a:lnTo>
                <a:lnTo>
                  <a:pt x="230306" y="27639"/>
                </a:lnTo>
                <a:lnTo>
                  <a:pt x="190560" y="7303"/>
                </a:lnTo>
                <a:lnTo>
                  <a:pt x="144780" y="0"/>
                </a:lnTo>
                <a:close/>
              </a:path>
            </a:pathLst>
          </a:custGeom>
          <a:solidFill>
            <a:srgbClr val="00AF50"/>
          </a:solidFill>
        </p:spPr>
        <p:txBody>
          <a:bodyPr wrap="square" lIns="0" tIns="0" rIns="0" bIns="0" rtlCol="0"/>
          <a:lstStyle/>
          <a:p>
            <a:endParaRPr/>
          </a:p>
        </p:txBody>
      </p:sp>
      <p:sp>
        <p:nvSpPr>
          <p:cNvPr id="43" name="bg object 43"/>
          <p:cNvSpPr/>
          <p:nvPr/>
        </p:nvSpPr>
        <p:spPr>
          <a:xfrm>
            <a:off x="1729739"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80" y="0"/>
                </a:lnTo>
                <a:lnTo>
                  <a:pt x="190560" y="7303"/>
                </a:lnTo>
                <a:lnTo>
                  <a:pt x="230306" y="27639"/>
                </a:lnTo>
                <a:lnTo>
                  <a:pt x="261640" y="58649"/>
                </a:lnTo>
                <a:lnTo>
                  <a:pt x="282183" y="97974"/>
                </a:lnTo>
                <a:lnTo>
                  <a:pt x="289560" y="143255"/>
                </a:lnTo>
                <a:lnTo>
                  <a:pt x="282183" y="188537"/>
                </a:lnTo>
                <a:lnTo>
                  <a:pt x="261640" y="227862"/>
                </a:lnTo>
                <a:lnTo>
                  <a:pt x="230306" y="258872"/>
                </a:lnTo>
                <a:lnTo>
                  <a:pt x="190560" y="279208"/>
                </a:lnTo>
                <a:lnTo>
                  <a:pt x="144780" y="286511"/>
                </a:lnTo>
                <a:lnTo>
                  <a:pt x="98999" y="279208"/>
                </a:lnTo>
                <a:lnTo>
                  <a:pt x="59253" y="258872"/>
                </a:lnTo>
                <a:lnTo>
                  <a:pt x="27919" y="227862"/>
                </a:lnTo>
                <a:lnTo>
                  <a:pt x="7376" y="188537"/>
                </a:lnTo>
                <a:lnTo>
                  <a:pt x="0" y="143255"/>
                </a:lnTo>
                <a:close/>
              </a:path>
            </a:pathLst>
          </a:custGeom>
          <a:ln w="12700">
            <a:solidFill>
              <a:srgbClr val="00AF50"/>
            </a:solidFill>
          </a:ln>
        </p:spPr>
        <p:txBody>
          <a:bodyPr wrap="square" lIns="0" tIns="0" rIns="0" bIns="0" rtlCol="0"/>
          <a:lstStyle/>
          <a:p>
            <a:endParaRPr/>
          </a:p>
        </p:txBody>
      </p:sp>
      <p:sp>
        <p:nvSpPr>
          <p:cNvPr id="44" name="bg object 44"/>
          <p:cNvSpPr/>
          <p:nvPr/>
        </p:nvSpPr>
        <p:spPr>
          <a:xfrm>
            <a:off x="2019300" y="6082283"/>
            <a:ext cx="289560" cy="287020"/>
          </a:xfrm>
          <a:custGeom>
            <a:avLst/>
            <a:gdLst/>
            <a:ahLst/>
            <a:cxnLst/>
            <a:rect l="l" t="t" r="r" b="b"/>
            <a:pathLst>
              <a:path w="289560" h="287020">
                <a:moveTo>
                  <a:pt x="144780"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80" y="286511"/>
                </a:lnTo>
                <a:lnTo>
                  <a:pt x="190560" y="279208"/>
                </a:lnTo>
                <a:lnTo>
                  <a:pt x="230306" y="258872"/>
                </a:lnTo>
                <a:lnTo>
                  <a:pt x="261640" y="227862"/>
                </a:lnTo>
                <a:lnTo>
                  <a:pt x="282183" y="188537"/>
                </a:lnTo>
                <a:lnTo>
                  <a:pt x="289560" y="143255"/>
                </a:lnTo>
                <a:lnTo>
                  <a:pt x="282183" y="97974"/>
                </a:lnTo>
                <a:lnTo>
                  <a:pt x="261640" y="58649"/>
                </a:lnTo>
                <a:lnTo>
                  <a:pt x="230306" y="27639"/>
                </a:lnTo>
                <a:lnTo>
                  <a:pt x="190560" y="7303"/>
                </a:lnTo>
                <a:lnTo>
                  <a:pt x="144780" y="0"/>
                </a:lnTo>
                <a:close/>
              </a:path>
            </a:pathLst>
          </a:custGeom>
          <a:solidFill>
            <a:srgbClr val="BEBEBE"/>
          </a:solidFill>
        </p:spPr>
        <p:txBody>
          <a:bodyPr wrap="square" lIns="0" tIns="0" rIns="0" bIns="0" rtlCol="0"/>
          <a:lstStyle/>
          <a:p>
            <a:endParaRPr/>
          </a:p>
        </p:txBody>
      </p:sp>
      <p:sp>
        <p:nvSpPr>
          <p:cNvPr id="45" name="bg object 45"/>
          <p:cNvSpPr/>
          <p:nvPr/>
        </p:nvSpPr>
        <p:spPr>
          <a:xfrm>
            <a:off x="2019300"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80" y="0"/>
                </a:lnTo>
                <a:lnTo>
                  <a:pt x="190560" y="7303"/>
                </a:lnTo>
                <a:lnTo>
                  <a:pt x="230306" y="27639"/>
                </a:lnTo>
                <a:lnTo>
                  <a:pt x="261640" y="58649"/>
                </a:lnTo>
                <a:lnTo>
                  <a:pt x="282183" y="97974"/>
                </a:lnTo>
                <a:lnTo>
                  <a:pt x="289560" y="143255"/>
                </a:lnTo>
                <a:lnTo>
                  <a:pt x="282183" y="188537"/>
                </a:lnTo>
                <a:lnTo>
                  <a:pt x="261640" y="227862"/>
                </a:lnTo>
                <a:lnTo>
                  <a:pt x="230306" y="258872"/>
                </a:lnTo>
                <a:lnTo>
                  <a:pt x="190560" y="279208"/>
                </a:lnTo>
                <a:lnTo>
                  <a:pt x="144780" y="286511"/>
                </a:lnTo>
                <a:lnTo>
                  <a:pt x="98999" y="279208"/>
                </a:lnTo>
                <a:lnTo>
                  <a:pt x="59253" y="258872"/>
                </a:lnTo>
                <a:lnTo>
                  <a:pt x="27919" y="227862"/>
                </a:lnTo>
                <a:lnTo>
                  <a:pt x="7376" y="188537"/>
                </a:lnTo>
                <a:lnTo>
                  <a:pt x="0" y="143255"/>
                </a:lnTo>
                <a:close/>
              </a:path>
            </a:pathLst>
          </a:custGeom>
          <a:ln w="12700">
            <a:solidFill>
              <a:srgbClr val="BEBEBE"/>
            </a:solidFill>
          </a:ln>
        </p:spPr>
        <p:txBody>
          <a:bodyPr wrap="square" lIns="0" tIns="0" rIns="0" bIns="0" rtlCol="0"/>
          <a:lstStyle/>
          <a:p>
            <a:endParaRPr/>
          </a:p>
        </p:txBody>
      </p:sp>
      <p:sp>
        <p:nvSpPr>
          <p:cNvPr id="46" name="bg object 46"/>
          <p:cNvSpPr/>
          <p:nvPr/>
        </p:nvSpPr>
        <p:spPr>
          <a:xfrm>
            <a:off x="2308860" y="6082283"/>
            <a:ext cx="289560" cy="287020"/>
          </a:xfrm>
          <a:custGeom>
            <a:avLst/>
            <a:gdLst/>
            <a:ahLst/>
            <a:cxnLst/>
            <a:rect l="l" t="t" r="r" b="b"/>
            <a:pathLst>
              <a:path w="289560" h="287020">
                <a:moveTo>
                  <a:pt x="144779"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79"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79" y="0"/>
                </a:lnTo>
                <a:close/>
              </a:path>
            </a:pathLst>
          </a:custGeom>
          <a:solidFill>
            <a:srgbClr val="FFFFFF"/>
          </a:solidFill>
        </p:spPr>
        <p:txBody>
          <a:bodyPr wrap="square" lIns="0" tIns="0" rIns="0" bIns="0" rtlCol="0"/>
          <a:lstStyle/>
          <a:p>
            <a:endParaRPr/>
          </a:p>
        </p:txBody>
      </p:sp>
      <p:sp>
        <p:nvSpPr>
          <p:cNvPr id="47" name="bg object 47"/>
          <p:cNvSpPr/>
          <p:nvPr/>
        </p:nvSpPr>
        <p:spPr>
          <a:xfrm>
            <a:off x="2308860"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79"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79" y="286511"/>
                </a:lnTo>
                <a:lnTo>
                  <a:pt x="98999" y="279208"/>
                </a:lnTo>
                <a:lnTo>
                  <a:pt x="59253" y="258872"/>
                </a:lnTo>
                <a:lnTo>
                  <a:pt x="27919" y="227862"/>
                </a:lnTo>
                <a:lnTo>
                  <a:pt x="7376" y="188537"/>
                </a:lnTo>
                <a:lnTo>
                  <a:pt x="0" y="143255"/>
                </a:lnTo>
                <a:close/>
              </a:path>
            </a:pathLst>
          </a:custGeom>
          <a:ln w="12700">
            <a:solidFill>
              <a:srgbClr val="D9D9D9"/>
            </a:solidFill>
          </a:ln>
        </p:spPr>
        <p:txBody>
          <a:bodyPr wrap="square" lIns="0" tIns="0" rIns="0" bIns="0" rtlCol="0"/>
          <a:lstStyle/>
          <a:p>
            <a:endParaRPr/>
          </a:p>
        </p:txBody>
      </p:sp>
      <p:sp>
        <p:nvSpPr>
          <p:cNvPr id="48" name="bg object 48"/>
          <p:cNvSpPr/>
          <p:nvPr/>
        </p:nvSpPr>
        <p:spPr>
          <a:xfrm>
            <a:off x="2601467" y="6082283"/>
            <a:ext cx="289560" cy="287020"/>
          </a:xfrm>
          <a:custGeom>
            <a:avLst/>
            <a:gdLst/>
            <a:ahLst/>
            <a:cxnLst/>
            <a:rect l="l" t="t" r="r" b="b"/>
            <a:pathLst>
              <a:path w="289560" h="287020">
                <a:moveTo>
                  <a:pt x="144780"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80"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80" y="0"/>
                </a:lnTo>
                <a:close/>
              </a:path>
            </a:pathLst>
          </a:custGeom>
          <a:solidFill>
            <a:srgbClr val="FFC000"/>
          </a:solidFill>
        </p:spPr>
        <p:txBody>
          <a:bodyPr wrap="square" lIns="0" tIns="0" rIns="0" bIns="0" rtlCol="0"/>
          <a:lstStyle/>
          <a:p>
            <a:endParaRPr/>
          </a:p>
        </p:txBody>
      </p:sp>
      <p:sp>
        <p:nvSpPr>
          <p:cNvPr id="49" name="bg object 49"/>
          <p:cNvSpPr/>
          <p:nvPr/>
        </p:nvSpPr>
        <p:spPr>
          <a:xfrm>
            <a:off x="2601467"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80"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80" y="286511"/>
                </a:lnTo>
                <a:lnTo>
                  <a:pt x="98999" y="279208"/>
                </a:lnTo>
                <a:lnTo>
                  <a:pt x="59253" y="258872"/>
                </a:lnTo>
                <a:lnTo>
                  <a:pt x="27919" y="227862"/>
                </a:lnTo>
                <a:lnTo>
                  <a:pt x="7376" y="188537"/>
                </a:lnTo>
                <a:lnTo>
                  <a:pt x="0" y="143255"/>
                </a:lnTo>
                <a:close/>
              </a:path>
            </a:pathLst>
          </a:custGeom>
          <a:ln w="12700">
            <a:solidFill>
              <a:srgbClr val="FFC000"/>
            </a:solidFill>
          </a:ln>
        </p:spPr>
        <p:txBody>
          <a:bodyPr wrap="square" lIns="0" tIns="0" rIns="0" bIns="0" rtlCol="0"/>
          <a:lstStyle/>
          <a:p>
            <a:endParaRPr/>
          </a:p>
        </p:txBody>
      </p:sp>
      <p:sp>
        <p:nvSpPr>
          <p:cNvPr id="50" name="bg object 50"/>
          <p:cNvSpPr/>
          <p:nvPr/>
        </p:nvSpPr>
        <p:spPr>
          <a:xfrm>
            <a:off x="2900172" y="6082283"/>
            <a:ext cx="289560" cy="287020"/>
          </a:xfrm>
          <a:custGeom>
            <a:avLst/>
            <a:gdLst/>
            <a:ahLst/>
            <a:cxnLst/>
            <a:rect l="l" t="t" r="r" b="b"/>
            <a:pathLst>
              <a:path w="289560" h="287020">
                <a:moveTo>
                  <a:pt x="144779"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79"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79" y="0"/>
                </a:lnTo>
                <a:close/>
              </a:path>
            </a:pathLst>
          </a:custGeom>
          <a:solidFill>
            <a:srgbClr val="FF99FF"/>
          </a:solidFill>
        </p:spPr>
        <p:txBody>
          <a:bodyPr wrap="square" lIns="0" tIns="0" rIns="0" bIns="0" rtlCol="0"/>
          <a:lstStyle/>
          <a:p>
            <a:endParaRPr/>
          </a:p>
        </p:txBody>
      </p:sp>
      <p:sp>
        <p:nvSpPr>
          <p:cNvPr id="51" name="bg object 51"/>
          <p:cNvSpPr/>
          <p:nvPr/>
        </p:nvSpPr>
        <p:spPr>
          <a:xfrm>
            <a:off x="2900172"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79"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79" y="286511"/>
                </a:lnTo>
                <a:lnTo>
                  <a:pt x="98999" y="279208"/>
                </a:lnTo>
                <a:lnTo>
                  <a:pt x="59253" y="258872"/>
                </a:lnTo>
                <a:lnTo>
                  <a:pt x="27919" y="227862"/>
                </a:lnTo>
                <a:lnTo>
                  <a:pt x="7376" y="188537"/>
                </a:lnTo>
                <a:lnTo>
                  <a:pt x="0" y="143255"/>
                </a:lnTo>
                <a:close/>
              </a:path>
            </a:pathLst>
          </a:custGeom>
          <a:ln w="12700">
            <a:solidFill>
              <a:srgbClr val="FF99FF"/>
            </a:solidFill>
          </a:ln>
        </p:spPr>
        <p:txBody>
          <a:bodyPr wrap="square" lIns="0" tIns="0" rIns="0" bIns="0" rtlCol="0"/>
          <a:lstStyle/>
          <a:p>
            <a:endParaRPr/>
          </a:p>
        </p:txBody>
      </p:sp>
      <p:sp>
        <p:nvSpPr>
          <p:cNvPr id="52" name="bg object 52"/>
          <p:cNvSpPr/>
          <p:nvPr/>
        </p:nvSpPr>
        <p:spPr>
          <a:xfrm>
            <a:off x="3188207" y="6082283"/>
            <a:ext cx="289560" cy="287020"/>
          </a:xfrm>
          <a:custGeom>
            <a:avLst/>
            <a:gdLst/>
            <a:ahLst/>
            <a:cxnLst/>
            <a:rect l="l" t="t" r="r" b="b"/>
            <a:pathLst>
              <a:path w="289560" h="287020">
                <a:moveTo>
                  <a:pt x="144780"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80"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80" y="0"/>
                </a:lnTo>
                <a:close/>
              </a:path>
            </a:pathLst>
          </a:custGeom>
          <a:solidFill>
            <a:srgbClr val="00CCFF"/>
          </a:solidFill>
        </p:spPr>
        <p:txBody>
          <a:bodyPr wrap="square" lIns="0" tIns="0" rIns="0" bIns="0" rtlCol="0"/>
          <a:lstStyle/>
          <a:p>
            <a:endParaRPr/>
          </a:p>
        </p:txBody>
      </p:sp>
      <p:sp>
        <p:nvSpPr>
          <p:cNvPr id="53" name="bg object 53"/>
          <p:cNvSpPr/>
          <p:nvPr/>
        </p:nvSpPr>
        <p:spPr>
          <a:xfrm>
            <a:off x="3188207"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80"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80" y="286511"/>
                </a:lnTo>
                <a:lnTo>
                  <a:pt x="98999" y="279208"/>
                </a:lnTo>
                <a:lnTo>
                  <a:pt x="59253" y="258872"/>
                </a:lnTo>
                <a:lnTo>
                  <a:pt x="27919" y="227862"/>
                </a:lnTo>
                <a:lnTo>
                  <a:pt x="7376" y="188537"/>
                </a:lnTo>
                <a:lnTo>
                  <a:pt x="0" y="143255"/>
                </a:lnTo>
                <a:close/>
              </a:path>
            </a:pathLst>
          </a:custGeom>
          <a:ln w="12700">
            <a:solidFill>
              <a:srgbClr val="00CCFF"/>
            </a:solidFill>
          </a:ln>
        </p:spPr>
        <p:txBody>
          <a:bodyPr wrap="square" lIns="0" tIns="0" rIns="0" bIns="0" rtlCol="0"/>
          <a:lstStyle/>
          <a:p>
            <a:endParaRPr/>
          </a:p>
        </p:txBody>
      </p:sp>
      <p:sp>
        <p:nvSpPr>
          <p:cNvPr id="2" name="Holder 2"/>
          <p:cNvSpPr>
            <a:spLocks noGrp="1"/>
          </p:cNvSpPr>
          <p:nvPr>
            <p:ph type="title"/>
          </p:nvPr>
        </p:nvSpPr>
        <p:spPr>
          <a:xfrm>
            <a:off x="190500" y="185673"/>
            <a:ext cx="11811000" cy="2294712"/>
          </a:xfrm>
          <a:prstGeom prst="rect">
            <a:avLst/>
          </a:prstGeom>
        </p:spPr>
        <p:txBody>
          <a:bodyPr wrap="square" lIns="0" tIns="0" rIns="0" bIns="0">
            <a:spAutoFit/>
          </a:bodyPr>
          <a:lstStyle>
            <a:lvl1pPr>
              <a:defRPr sz="3200" b="1" i="0">
                <a:solidFill>
                  <a:schemeClr val="bg1"/>
                </a:solidFill>
                <a:latin typeface="Arial"/>
                <a:cs typeface="Arial"/>
              </a:defRPr>
            </a:lvl1pPr>
          </a:lstStyle>
          <a:p>
            <a:endParaRPr/>
          </a:p>
        </p:txBody>
      </p:sp>
      <p:sp>
        <p:nvSpPr>
          <p:cNvPr id="3" name="Holder 3"/>
          <p:cNvSpPr>
            <a:spLocks noGrp="1"/>
          </p:cNvSpPr>
          <p:nvPr>
            <p:ph type="body" idx="1"/>
          </p:nvPr>
        </p:nvSpPr>
        <p:spPr>
          <a:xfrm>
            <a:off x="400913" y="1391793"/>
            <a:ext cx="6763384" cy="3516629"/>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4/10/2024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pic>
        <p:nvPicPr>
          <p:cNvPr id="8" name="Picture 7">
            <a:extLst>
              <a:ext uri="{FF2B5EF4-FFF2-40B4-BE49-F238E27FC236}">
                <a16:creationId xmlns:a16="http://schemas.microsoft.com/office/drawing/2014/main" id="{E9E39CBE-B72C-EC3E-4A05-B8DEEEA64AA9}"/>
              </a:ext>
            </a:extLst>
          </p:cNvPr>
          <p:cNvPicPr>
            <a:picLocks noChangeAspect="1"/>
          </p:cNvPicPr>
          <p:nvPr/>
        </p:nvPicPr>
        <p:blipFill>
          <a:blip r:embed="rId3"/>
          <a:stretch>
            <a:fillRect/>
          </a:stretch>
        </p:blipFill>
        <p:spPr>
          <a:xfrm>
            <a:off x="3505200" y="516317"/>
            <a:ext cx="4876800" cy="873378"/>
          </a:xfrm>
          <a:prstGeom prst="rect">
            <a:avLst/>
          </a:prstGeom>
        </p:spPr>
      </p:pic>
      <p:sp>
        <p:nvSpPr>
          <p:cNvPr id="9" name="object 3">
            <a:extLst>
              <a:ext uri="{FF2B5EF4-FFF2-40B4-BE49-F238E27FC236}">
                <a16:creationId xmlns:a16="http://schemas.microsoft.com/office/drawing/2014/main" id="{A493234F-F692-3B3A-0FEB-4ABE3DD2F079}"/>
              </a:ext>
            </a:extLst>
          </p:cNvPr>
          <p:cNvSpPr txBox="1">
            <a:spLocks/>
          </p:cNvSpPr>
          <p:nvPr/>
        </p:nvSpPr>
        <p:spPr>
          <a:xfrm>
            <a:off x="545431" y="1766027"/>
            <a:ext cx="10898240" cy="428322"/>
          </a:xfrm>
          <a:prstGeom prst="rect">
            <a:avLst/>
          </a:prstGeom>
          <a:noFill/>
          <a:ln w="0">
            <a:noFill/>
          </a:ln>
        </p:spPr>
        <p:txBody>
          <a:bodyPr vert="horz" wrap="square" lIns="0" tIns="12700" rIns="0" bIns="0" rtlCol="0" anchor="t">
            <a:spAutoFit/>
          </a:bodyPr>
          <a:lstStyle>
            <a:lvl1pPr algn="l" defTabSz="914400" rtl="0" eaLnBrk="1" latinLnBrk="0" hangingPunct="1">
              <a:lnSpc>
                <a:spcPct val="90000"/>
              </a:lnSpc>
              <a:spcBef>
                <a:spcPct val="0"/>
              </a:spcBef>
              <a:buNone/>
              <a:defRPr sz="3200" b="1" i="0" kern="1200">
                <a:solidFill>
                  <a:schemeClr val="bg1"/>
                </a:solidFill>
                <a:latin typeface="Arial" pitchFamily="34" charset="0"/>
                <a:ea typeface="+mj-ea"/>
                <a:cs typeface="Arial" pitchFamily="34" charset="0"/>
              </a:defRPr>
            </a:lvl1pPr>
          </a:lstStyle>
          <a:p>
            <a:pPr algn="ctr" fontAlgn="base"/>
            <a:r>
              <a:rPr lang="en-US" sz="3000" b="0" dirty="0">
                <a:solidFill>
                  <a:schemeClr val="tx1"/>
                </a:solidFill>
                <a:latin typeface="+mj-lt"/>
              </a:rPr>
              <a:t>21AIE315 AI IN SPEECH PROCESSING</a:t>
            </a:r>
          </a:p>
        </p:txBody>
      </p:sp>
      <p:sp>
        <p:nvSpPr>
          <p:cNvPr id="10" name="TextBox 9">
            <a:extLst>
              <a:ext uri="{FF2B5EF4-FFF2-40B4-BE49-F238E27FC236}">
                <a16:creationId xmlns:a16="http://schemas.microsoft.com/office/drawing/2014/main" id="{02B4896A-542D-F3EC-6288-18815919974C}"/>
              </a:ext>
            </a:extLst>
          </p:cNvPr>
          <p:cNvSpPr txBox="1"/>
          <p:nvPr/>
        </p:nvSpPr>
        <p:spPr>
          <a:xfrm>
            <a:off x="1419082" y="2389350"/>
            <a:ext cx="9477518" cy="1169551"/>
          </a:xfrm>
          <a:prstGeom prst="rect">
            <a:avLst/>
          </a:prstGeom>
          <a:noFill/>
        </p:spPr>
        <p:txBody>
          <a:bodyPr wrap="square" rtlCol="0">
            <a:spAutoFit/>
          </a:bodyPr>
          <a:lstStyle/>
          <a:p>
            <a:pPr algn="ctr"/>
            <a:r>
              <a:rPr lang="en-US" sz="3500" b="1" dirty="0">
                <a:solidFill>
                  <a:schemeClr val="tx1"/>
                </a:solidFill>
                <a:latin typeface="+mj-lt"/>
              </a:rPr>
              <a:t>Robust Hybrid Deep Learning Model For Fake Speech Detection</a:t>
            </a:r>
          </a:p>
        </p:txBody>
      </p:sp>
      <p:sp>
        <p:nvSpPr>
          <p:cNvPr id="11" name="TextBox 10">
            <a:extLst>
              <a:ext uri="{FF2B5EF4-FFF2-40B4-BE49-F238E27FC236}">
                <a16:creationId xmlns:a16="http://schemas.microsoft.com/office/drawing/2014/main" id="{3547877B-39EF-B03C-D702-716368A486BD}"/>
              </a:ext>
            </a:extLst>
          </p:cNvPr>
          <p:cNvSpPr txBox="1"/>
          <p:nvPr/>
        </p:nvSpPr>
        <p:spPr>
          <a:xfrm>
            <a:off x="3001227" y="3497740"/>
            <a:ext cx="5989790" cy="2215991"/>
          </a:xfrm>
          <a:prstGeom prst="rect">
            <a:avLst/>
          </a:prstGeom>
          <a:solidFill>
            <a:srgbClr val="AE1237"/>
          </a:solidFill>
        </p:spPr>
        <p:txBody>
          <a:bodyPr wrap="square" lIns="91440" tIns="45720" rIns="91440" bIns="45720" rtlCol="0" anchor="t">
            <a:spAutoFit/>
          </a:bodyPr>
          <a:lstStyle/>
          <a:p>
            <a:pPr algn="ctr"/>
            <a:endParaRPr lang="en-IN" sz="1200" dirty="0">
              <a:solidFill>
                <a:schemeClr val="bg1"/>
              </a:solidFill>
            </a:endParaRPr>
          </a:p>
          <a:p>
            <a:pPr algn="ctr"/>
            <a:r>
              <a:rPr lang="en-IN" sz="2400" b="1" dirty="0">
                <a:solidFill>
                  <a:schemeClr val="bg1"/>
                </a:solidFill>
                <a:latin typeface="Times New Roman"/>
                <a:cs typeface="Times New Roman"/>
              </a:rPr>
              <a:t>Team-19</a:t>
            </a:r>
          </a:p>
          <a:p>
            <a:pPr algn="ctr"/>
            <a:endParaRPr lang="en-IN" sz="2400" dirty="0">
              <a:solidFill>
                <a:schemeClr val="bg1"/>
              </a:solidFill>
              <a:latin typeface="Times New Roman"/>
              <a:cs typeface="Times New Roman"/>
            </a:endParaRPr>
          </a:p>
          <a:p>
            <a:pPr algn="ctr"/>
            <a:r>
              <a:rPr lang="en-IN" dirty="0">
                <a:solidFill>
                  <a:schemeClr val="bg1"/>
                </a:solidFill>
                <a:latin typeface="Times New Roman"/>
                <a:cs typeface="Times New Roman"/>
              </a:rPr>
              <a:t>DINGARI JAHNAVI – CH.EN.U4AIE21111</a:t>
            </a:r>
          </a:p>
          <a:p>
            <a:pPr algn="ctr"/>
            <a:r>
              <a:rPr lang="en-IN" dirty="0">
                <a:solidFill>
                  <a:schemeClr val="bg1"/>
                </a:solidFill>
                <a:latin typeface="Times New Roman"/>
                <a:cs typeface="Times New Roman"/>
              </a:rPr>
              <a:t>PULATA SANDEEP   – CH.EN.U4AIE21137</a:t>
            </a:r>
          </a:p>
          <a:p>
            <a:pPr algn="ctr"/>
            <a:r>
              <a:rPr lang="en-IN" dirty="0">
                <a:solidFill>
                  <a:schemeClr val="bg1"/>
                </a:solidFill>
                <a:latin typeface="Times New Roman"/>
                <a:cs typeface="Times New Roman"/>
              </a:rPr>
              <a:t>SASANK SAMI    – CH.EN.U4AIE21160</a:t>
            </a:r>
          </a:p>
          <a:p>
            <a:pPr algn="ctr"/>
            <a:endParaRPr lang="en-IN" sz="2400" dirty="0">
              <a:solidFill>
                <a:schemeClr val="bg1"/>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3" name="object 2">
            <a:extLst>
              <a:ext uri="{FF2B5EF4-FFF2-40B4-BE49-F238E27FC236}">
                <a16:creationId xmlns:a16="http://schemas.microsoft.com/office/drawing/2014/main" id="{6B0F604E-4F1C-6717-8432-0C4B4ED233C9}"/>
              </a:ext>
            </a:extLst>
          </p:cNvPr>
          <p:cNvSpPr txBox="1">
            <a:spLocks noEditPoints="1"/>
          </p:cNvSpPr>
          <p:nvPr/>
        </p:nvSpPr>
        <p:spPr>
          <a:xfrm>
            <a:off x="457200" y="533400"/>
            <a:ext cx="2247396" cy="462947"/>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US" sz="3000" b="1" dirty="0">
                <a:effectLst/>
                <a:latin typeface="Times New Roman" panose="02020603050405020304" pitchFamily="18" charset="0"/>
                <a:ea typeface="Arial Unicode MS"/>
              </a:rPr>
              <a:t> ABSTRACT</a:t>
            </a:r>
            <a:endParaRPr lang="en-IN" sz="3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DCC5047-DA2F-9794-897F-DFB6FB707291}"/>
              </a:ext>
            </a:extLst>
          </p:cNvPr>
          <p:cNvSpPr txBox="1"/>
          <p:nvPr/>
        </p:nvSpPr>
        <p:spPr>
          <a:xfrm>
            <a:off x="1066800" y="1752600"/>
            <a:ext cx="9601200" cy="2956387"/>
          </a:xfrm>
          <a:prstGeom prst="rect">
            <a:avLst/>
          </a:prstGeom>
          <a:noFill/>
        </p:spPr>
        <p:txBody>
          <a:bodyPr wrap="square">
            <a:spAutoFit/>
          </a:bodyPr>
          <a:lstStyle/>
          <a:p>
            <a:pPr algn="just">
              <a:lnSpc>
                <a:spcPct val="150000"/>
              </a:lnSpc>
            </a:pPr>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This project aims to develop a robust speech accent recognition system using advanced techniques, specifically Mel-Frequency Cepstral Coefficients (MFCCs), and two different architectures: a hybrid model consisting of Convolutional Neural Networks (CNNs) with Gated Recurrent Units (GRUs), and a separate Random Forest model. Leveraging the Speech Accent Archive dataset, we trained and evaluated both models to accurately identify and distinguish between various accents in spoken English. Our results demonstrate promising performance metrics, highlighting the system's potential to enhance communication diversity and inclusivity in language processing technologies.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81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4" name="object 2">
            <a:extLst>
              <a:ext uri="{FF2B5EF4-FFF2-40B4-BE49-F238E27FC236}">
                <a16:creationId xmlns:a16="http://schemas.microsoft.com/office/drawing/2014/main" id="{38FC8DE5-2113-C54C-3972-BA0FCC65C97C}"/>
              </a:ext>
            </a:extLst>
          </p:cNvPr>
          <p:cNvSpPr txBox="1">
            <a:spLocks noEditPoints="1"/>
          </p:cNvSpPr>
          <p:nvPr/>
        </p:nvSpPr>
        <p:spPr>
          <a:xfrm>
            <a:off x="457200" y="691829"/>
            <a:ext cx="4241826"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US" sz="2800" dirty="0">
                <a:latin typeface="Times New Roman" panose="02020603050405020304" pitchFamily="18" charset="0"/>
                <a:cs typeface="Times New Roman" panose="02020603050405020304" pitchFamily="18" charset="0"/>
              </a:rPr>
              <a:t> PROBLEM STATEMENT</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B4232FD-A074-5B3A-4DAF-0E016D9A0356}"/>
              </a:ext>
            </a:extLst>
          </p:cNvPr>
          <p:cNvSpPr txBox="1"/>
          <p:nvPr/>
        </p:nvSpPr>
        <p:spPr>
          <a:xfrm>
            <a:off x="1143000" y="1828800"/>
            <a:ext cx="9526640" cy="4108817"/>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Developing a speech accent recognition system to accurately identify and distinguish between different accents in spoken English, enhancing communication inclusivity and understanding across diverse linguistic backgrounds. Addressing the challenge of accurately recognizing and distinguishing between various accents in spoken English through the development of a robust speech accent recognition system. This system aims to improve language processing technologies by promoting inclusivity and facilitating effective communication across diverse linguistic communities.</a:t>
            </a:r>
          </a:p>
          <a:p>
            <a:pPr>
              <a:lnSpc>
                <a:spcPct val="150000"/>
              </a:lnSpc>
            </a:pPr>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210014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4" name="object 2">
            <a:extLst>
              <a:ext uri="{FF2B5EF4-FFF2-40B4-BE49-F238E27FC236}">
                <a16:creationId xmlns:a16="http://schemas.microsoft.com/office/drawing/2014/main" id="{38FC8DE5-2113-C54C-3972-BA0FCC65C97C}"/>
              </a:ext>
            </a:extLst>
          </p:cNvPr>
          <p:cNvSpPr txBox="1">
            <a:spLocks noEditPoints="1"/>
          </p:cNvSpPr>
          <p:nvPr/>
        </p:nvSpPr>
        <p:spPr>
          <a:xfrm>
            <a:off x="253975" y="334624"/>
            <a:ext cx="2413025"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US" sz="2800" dirty="0">
                <a:latin typeface="Times New Roman" panose="02020603050405020304" pitchFamily="18" charset="0"/>
                <a:cs typeface="Times New Roman" panose="02020603050405020304" pitchFamily="18" charset="0"/>
              </a:rPr>
              <a:t> OBJEVTIVES</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FC30851-0CD6-AF2B-0790-99005429FBC2}"/>
              </a:ext>
            </a:extLst>
          </p:cNvPr>
          <p:cNvSpPr txBox="1"/>
          <p:nvPr/>
        </p:nvSpPr>
        <p:spPr>
          <a:xfrm>
            <a:off x="838200" y="1143000"/>
            <a:ext cx="10058399" cy="419755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Train the Random Forest classifier on the Speech Accent Archive dataset to classify accents in spoken English.</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Evaluate the classifier's performance using metrics such as accuracy, precision, recall, and F1-score to gauge its effectiveness in accent recognition.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Employ visualization techniques like confusion matrices to gain insights into the classifier's behavior and identify areas for improvement.</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Compare the performance of the Random Forest model with the CNN-GRU hybrid model to assess its suitability for accent recognition tasks.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Explore ensemble methods and hyperparameter tuning to optimize the Random Forest classifier's performance and enhance its accuracy and robustness.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789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793ABFA-61AF-09A7-F28A-C41E2431256C}"/>
              </a:ext>
            </a:extLst>
          </p:cNvPr>
          <p:cNvGraphicFramePr>
            <a:graphicFrameLocks noGrp="1"/>
          </p:cNvGraphicFramePr>
          <p:nvPr>
            <p:extLst>
              <p:ext uri="{D42A27DB-BD31-4B8C-83A1-F6EECF244321}">
                <p14:modId xmlns:p14="http://schemas.microsoft.com/office/powerpoint/2010/main" val="826175685"/>
              </p:ext>
            </p:extLst>
          </p:nvPr>
        </p:nvGraphicFramePr>
        <p:xfrm>
          <a:off x="304800" y="990600"/>
          <a:ext cx="10972800" cy="4478389"/>
        </p:xfrm>
        <a:graphic>
          <a:graphicData uri="http://schemas.openxmlformats.org/drawingml/2006/table">
            <a:tbl>
              <a:tblPr firstRow="1" bandRow="1">
                <a:tableStyleId>{93296810-A885-4BE3-A3E7-6D5BEEA58F35}</a:tableStyleId>
              </a:tblPr>
              <a:tblGrid>
                <a:gridCol w="2370125">
                  <a:extLst>
                    <a:ext uri="{9D8B030D-6E8A-4147-A177-3AD203B41FA5}">
                      <a16:colId xmlns:a16="http://schemas.microsoft.com/office/drawing/2014/main" val="1293924860"/>
                    </a:ext>
                  </a:extLst>
                </a:gridCol>
                <a:gridCol w="1053389">
                  <a:extLst>
                    <a:ext uri="{9D8B030D-6E8A-4147-A177-3AD203B41FA5}">
                      <a16:colId xmlns:a16="http://schemas.microsoft.com/office/drawing/2014/main" val="1818747381"/>
                    </a:ext>
                  </a:extLst>
                </a:gridCol>
                <a:gridCol w="1667866">
                  <a:extLst>
                    <a:ext uri="{9D8B030D-6E8A-4147-A177-3AD203B41FA5}">
                      <a16:colId xmlns:a16="http://schemas.microsoft.com/office/drawing/2014/main" val="4290150667"/>
                    </a:ext>
                  </a:extLst>
                </a:gridCol>
                <a:gridCol w="1843430">
                  <a:extLst>
                    <a:ext uri="{9D8B030D-6E8A-4147-A177-3AD203B41FA5}">
                      <a16:colId xmlns:a16="http://schemas.microsoft.com/office/drawing/2014/main" val="4046209980"/>
                    </a:ext>
                  </a:extLst>
                </a:gridCol>
                <a:gridCol w="4037990">
                  <a:extLst>
                    <a:ext uri="{9D8B030D-6E8A-4147-A177-3AD203B41FA5}">
                      <a16:colId xmlns:a16="http://schemas.microsoft.com/office/drawing/2014/main" val="2813407364"/>
                    </a:ext>
                  </a:extLst>
                </a:gridCol>
              </a:tblGrid>
              <a:tr h="0">
                <a:tc>
                  <a:txBody>
                    <a:bodyPr/>
                    <a:lstStyle/>
                    <a:p>
                      <a:pPr algn="ctr"/>
                      <a:r>
                        <a:rPr lang="en-US" sz="1400" dirty="0"/>
                        <a:t>Title</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Year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Dataset</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Evaluation Metrics</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t>Key Findings</a:t>
                      </a:r>
                      <a:endParaRPr lang="en-US" sz="1400" dirty="0">
                        <a:latin typeface="Times New Roman" panose="02020603050405020304" pitchFamily="18" charset="0"/>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2615050"/>
                  </a:ext>
                </a:extLst>
              </a:tr>
              <a:tr h="194854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Towards the Development of a Real-Time Deepfake Audio Detection System in Communication Platforms</a:t>
                      </a:r>
                      <a:endParaRPr lang="en-IN" sz="1200" dirty="0">
                        <a:latin typeface="Times New Roman" panose="02020603050405020304" pitchFamily="18" charset="0"/>
                        <a:cs typeface="Times New Roman" panose="02020603050405020304" pitchFamily="18" charset="0"/>
                      </a:endParaRPr>
                    </a:p>
                    <a:p>
                      <a:pPr algn="l"/>
                      <a:endParaRPr lang="en-US" sz="1200" dirty="0">
                        <a:solidFill>
                          <a:schemeClr val="tx1"/>
                        </a:solidFill>
                        <a:latin typeface="+mn-lt"/>
                        <a:cs typeface="Times New Roman" panose="02020603050405020304" pitchFamily="18" charset="0"/>
                      </a:endParaRPr>
                    </a:p>
                  </a:txBody>
                  <a:tcPr/>
                </a:tc>
                <a:tc>
                  <a:txBody>
                    <a:bodyPr/>
                    <a:lstStyle/>
                    <a:p>
                      <a:pPr algn="ctr"/>
                      <a:r>
                        <a:rPr lang="en-IN" sz="1200" b="0" i="0" dirty="0">
                          <a:solidFill>
                            <a:schemeClr val="dk1"/>
                          </a:solidFill>
                          <a:effectLst/>
                          <a:latin typeface="+mn-lt"/>
                          <a:ea typeface="+mn-ea"/>
                          <a:cs typeface="+mn-cs"/>
                        </a:rPr>
                        <a:t>2024</a:t>
                      </a:r>
                      <a:endParaRPr lang="en-US" sz="1200" dirty="0">
                        <a:latin typeface="+mn-lt"/>
                        <a:cs typeface="Times New Roman" panose="02020603050405020304" pitchFamily="18" charset="0"/>
                      </a:endParaRPr>
                    </a:p>
                  </a:txBody>
                  <a:tcPr/>
                </a:tc>
                <a:tc>
                  <a:txBody>
                    <a:bodyPr/>
                    <a:lstStyle/>
                    <a:p>
                      <a:pPr algn="ctr"/>
                      <a:r>
                        <a:rPr lang="en-US" sz="1200" b="0" i="0" dirty="0">
                          <a:solidFill>
                            <a:schemeClr val="dk1"/>
                          </a:solidFill>
                          <a:effectLst/>
                          <a:latin typeface="+mn-lt"/>
                          <a:ea typeface="+mn-ea"/>
                          <a:cs typeface="+mn-cs"/>
                        </a:rPr>
                        <a:t>ASV Spoof 2019</a:t>
                      </a:r>
                      <a:endParaRPr lang="en-US" sz="1200" dirty="0">
                        <a:latin typeface="+mn-lt"/>
                        <a:cs typeface="Times New Roman" panose="02020603050405020304" pitchFamily="18" charset="0"/>
                      </a:endParaRPr>
                    </a:p>
                  </a:txBody>
                  <a:tcPr/>
                </a:tc>
                <a:tc>
                  <a:txBody>
                    <a:bodyPr/>
                    <a:lstStyle/>
                    <a:p>
                      <a:pPr algn="l"/>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Tandem detection cost function (t-DCF) and the equal error rate (EER). </a:t>
                      </a:r>
                      <a:endParaRPr lang="en-US" sz="1200" b="1" dirty="0">
                        <a:latin typeface="+mn-lt"/>
                        <a:cs typeface="Times New Roman" panose="02020603050405020304" pitchFamily="18" charset="0"/>
                      </a:endParaRPr>
                    </a:p>
                  </a:txBody>
                  <a:tcPr/>
                </a:tc>
                <a:tc>
                  <a:txBody>
                    <a:bodyPr/>
                    <a:lstStyle/>
                    <a:p>
                      <a:pPr>
                        <a:lnSpc>
                          <a:spcPct val="107000"/>
                        </a:lnSpc>
                      </a:pPr>
                      <a:r>
                        <a:rPr lang="en-IN" sz="14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The outcome of the research is the development of static deepfake audio detection models and a software application capable of real-time execution. The models achieved benchmark performances compared to </a:t>
                      </a:r>
                      <a:r>
                        <a:rPr lang="en-IN" sz="1400" kern="100" dirty="0" err="1">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ASVspoof</a:t>
                      </a:r>
                      <a:r>
                        <a:rPr lang="en-IN" sz="14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2019 challenge baselines. However, there were limitations observed when deploying the models in real-time communication scenarios.</a:t>
                      </a:r>
                    </a:p>
                  </a:txBody>
                  <a:tcPr/>
                </a:tc>
                <a:extLst>
                  <a:ext uri="{0D108BD9-81ED-4DB2-BD59-A6C34878D82A}">
                    <a16:rowId xmlns:a16="http://schemas.microsoft.com/office/drawing/2014/main" val="751816357"/>
                  </a:ext>
                </a:extLst>
              </a:tr>
              <a:tr h="1537906">
                <a:tc>
                  <a:txBody>
                    <a:bodyPr/>
                    <a:lstStyle/>
                    <a:p>
                      <a:pPr lvl="0">
                        <a:lnSpc>
                          <a:spcPct val="107000"/>
                        </a:lnSpc>
                        <a:spcAft>
                          <a:spcPts val="800"/>
                        </a:spcAft>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 generative variational autoencoding for replay spoof detection in automatic speaker verification</a:t>
                      </a:r>
                    </a:p>
                  </a:txBody>
                  <a:tcPr/>
                </a:tc>
                <a:tc>
                  <a:txBody>
                    <a:bodyPr/>
                    <a:lstStyle/>
                    <a:p>
                      <a:pPr algn="ctr"/>
                      <a:r>
                        <a:rPr lang="en-US" sz="1200" dirty="0">
                          <a:latin typeface="+mn-lt"/>
                          <a:cs typeface="Times New Roman" panose="02020603050405020304" pitchFamily="18" charset="0"/>
                        </a:rPr>
                        <a:t>2020</a:t>
                      </a:r>
                    </a:p>
                  </a:txBody>
                  <a:tcPr/>
                </a:tc>
                <a:tc>
                  <a:txBody>
                    <a:bodyPr/>
                    <a:lstStyle/>
                    <a:p>
                      <a:pPr algn="ctr"/>
                      <a:r>
                        <a:rPr lang="en-US" sz="1200" dirty="0">
                          <a:latin typeface="+mn-lt"/>
                          <a:cs typeface="Times New Roman" panose="02020603050405020304" pitchFamily="18" charset="0"/>
                        </a:rPr>
                        <a:t>ASV Spoof 2017&amp;2019</a:t>
                      </a:r>
                    </a:p>
                  </a:txBody>
                  <a:tcPr/>
                </a:tc>
                <a:tc>
                  <a:txBody>
                    <a:bodyPr/>
                    <a:lstStyle/>
                    <a:p>
                      <a:pPr algn="l"/>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Tandem detection cost function (t-DCF) and the equal error rate (EER). </a:t>
                      </a:r>
                      <a:endParaRPr lang="en-US" sz="1200" b="1" dirty="0">
                        <a:latin typeface="+mn-lt"/>
                        <a:cs typeface="Times New Roman" panose="02020603050405020304" pitchFamily="18" charset="0"/>
                      </a:endParaRPr>
                    </a:p>
                  </a:txBody>
                  <a:tcPr/>
                </a:tc>
                <a:tc>
                  <a:txBody>
                    <a:bodyPr/>
                    <a:lstStyle/>
                    <a:p>
                      <a:pPr algn="l"/>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The results indicate that the C-VAE model outperforms both the naive VAE and the baseline Gaussian Mixture Model (GMM) by a significant margin in terms of EER and t-DCF on the </a:t>
                      </a:r>
                      <a:r>
                        <a:rPr lang="en-US" sz="14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2017 and 2019 datasets. Additionally, the study proposes VAE residuals as features for spoof detection and demonstrates substantial improvement over the VAE backend use case when combined with a convolutional neural network classifier</a:t>
                      </a:r>
                      <a:endParaRPr lang="en-US" sz="1400" b="0" i="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4274688226"/>
                  </a:ext>
                </a:extLst>
              </a:tr>
            </a:tbl>
          </a:graphicData>
        </a:graphic>
      </p:graphicFrame>
      <p:sp>
        <p:nvSpPr>
          <p:cNvPr id="2" name="object 2">
            <a:extLst>
              <a:ext uri="{FF2B5EF4-FFF2-40B4-BE49-F238E27FC236}">
                <a16:creationId xmlns:a16="http://schemas.microsoft.com/office/drawing/2014/main" id="{305937A1-3354-9AEC-7BC9-7DF73F5CB73C}"/>
              </a:ext>
            </a:extLst>
          </p:cNvPr>
          <p:cNvSpPr txBox="1">
            <a:spLocks noEditPoints="1"/>
          </p:cNvSpPr>
          <p:nvPr/>
        </p:nvSpPr>
        <p:spPr>
          <a:xfrm>
            <a:off x="152400" y="228600"/>
            <a:ext cx="4114800"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2800" dirty="0">
                <a:latin typeface="Times New Roman" panose="02020603050405020304" pitchFamily="18" charset="0"/>
                <a:cs typeface="Times New Roman" panose="02020603050405020304" pitchFamily="18" charset="0"/>
              </a:rPr>
              <a:t> LITERATURE REVIEW </a:t>
            </a:r>
          </a:p>
        </p:txBody>
      </p:sp>
    </p:spTree>
    <p:extLst>
      <p:ext uri="{BB962C8B-B14F-4D97-AF65-F5344CB8AC3E}">
        <p14:creationId xmlns:p14="http://schemas.microsoft.com/office/powerpoint/2010/main" val="922960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bject 2">
            <a:extLst>
              <a:ext uri="{FF2B5EF4-FFF2-40B4-BE49-F238E27FC236}">
                <a16:creationId xmlns:a16="http://schemas.microsoft.com/office/drawing/2014/main" id="{A22665B7-02A4-FB4E-4AB5-43CE61782B42}"/>
              </a:ext>
            </a:extLst>
          </p:cNvPr>
          <p:cNvPicPr/>
          <p:nvPr/>
        </p:nvPicPr>
        <p:blipFill>
          <a:blip r:embed="rId3" cstate="print"/>
          <a:stretch>
            <a:fillRect/>
          </a:stretch>
        </p:blipFill>
        <p:spPr>
          <a:xfrm>
            <a:off x="9235557" y="6059775"/>
            <a:ext cx="1967483" cy="655319"/>
          </a:xfrm>
          <a:prstGeom prst="rect">
            <a:avLst/>
          </a:prstGeom>
        </p:spPr>
      </p:pic>
      <p:graphicFrame>
        <p:nvGraphicFramePr>
          <p:cNvPr id="3" name="Table 2">
            <a:extLst>
              <a:ext uri="{FF2B5EF4-FFF2-40B4-BE49-F238E27FC236}">
                <a16:creationId xmlns:a16="http://schemas.microsoft.com/office/drawing/2014/main" id="{C793ABFA-61AF-09A7-F28A-C41E2431256C}"/>
              </a:ext>
            </a:extLst>
          </p:cNvPr>
          <p:cNvGraphicFramePr>
            <a:graphicFrameLocks noGrp="1"/>
          </p:cNvGraphicFramePr>
          <p:nvPr>
            <p:extLst>
              <p:ext uri="{D42A27DB-BD31-4B8C-83A1-F6EECF244321}">
                <p14:modId xmlns:p14="http://schemas.microsoft.com/office/powerpoint/2010/main" val="1679906128"/>
              </p:ext>
            </p:extLst>
          </p:nvPr>
        </p:nvGraphicFramePr>
        <p:xfrm>
          <a:off x="228600" y="118780"/>
          <a:ext cx="11049000" cy="5712713"/>
        </p:xfrm>
        <a:graphic>
          <a:graphicData uri="http://schemas.openxmlformats.org/drawingml/2006/table">
            <a:tbl>
              <a:tblPr firstRow="1" bandRow="1">
                <a:tableStyleId>{93296810-A885-4BE3-A3E7-6D5BEEA58F35}</a:tableStyleId>
              </a:tblPr>
              <a:tblGrid>
                <a:gridCol w="2738460">
                  <a:extLst>
                    <a:ext uri="{9D8B030D-6E8A-4147-A177-3AD203B41FA5}">
                      <a16:colId xmlns:a16="http://schemas.microsoft.com/office/drawing/2014/main" val="1293924860"/>
                    </a:ext>
                  </a:extLst>
                </a:gridCol>
                <a:gridCol w="880219">
                  <a:extLst>
                    <a:ext uri="{9D8B030D-6E8A-4147-A177-3AD203B41FA5}">
                      <a16:colId xmlns:a16="http://schemas.microsoft.com/office/drawing/2014/main" val="1818747381"/>
                    </a:ext>
                  </a:extLst>
                </a:gridCol>
                <a:gridCol w="1760439">
                  <a:extLst>
                    <a:ext uri="{9D8B030D-6E8A-4147-A177-3AD203B41FA5}">
                      <a16:colId xmlns:a16="http://schemas.microsoft.com/office/drawing/2014/main" val="4290150667"/>
                    </a:ext>
                  </a:extLst>
                </a:gridCol>
                <a:gridCol w="2540213">
                  <a:extLst>
                    <a:ext uri="{9D8B030D-6E8A-4147-A177-3AD203B41FA5}">
                      <a16:colId xmlns:a16="http://schemas.microsoft.com/office/drawing/2014/main" val="4046209980"/>
                    </a:ext>
                  </a:extLst>
                </a:gridCol>
                <a:gridCol w="3129669">
                  <a:extLst>
                    <a:ext uri="{9D8B030D-6E8A-4147-A177-3AD203B41FA5}">
                      <a16:colId xmlns:a16="http://schemas.microsoft.com/office/drawing/2014/main" val="2813407364"/>
                    </a:ext>
                  </a:extLst>
                </a:gridCol>
              </a:tblGrid>
              <a:tr h="397758">
                <a:tc>
                  <a:txBody>
                    <a:bodyPr/>
                    <a:lstStyle/>
                    <a:p>
                      <a:pPr algn="ctr"/>
                      <a:r>
                        <a:rPr lang="en-US" sz="1400" dirty="0"/>
                        <a:t>Title</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Year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Dataset</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Evaluation Metrics</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t>Key Findings</a:t>
                      </a:r>
                      <a:endParaRPr lang="en-US" sz="1400" dirty="0">
                        <a:latin typeface="Times New Roman" panose="02020603050405020304" pitchFamily="18" charset="0"/>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2615050"/>
                  </a:ext>
                </a:extLst>
              </a:tr>
              <a:tr h="631733">
                <a:tc>
                  <a:txBody>
                    <a:bodyPr/>
                    <a:lstStyle/>
                    <a:p>
                      <a:pPr>
                        <a:lnSpc>
                          <a:spcPct val="107000"/>
                        </a:lnSpc>
                        <a:spcAft>
                          <a:spcPts val="800"/>
                        </a:spcAf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Effect of Deep Learning Methods on Deepfake Audio Detection for Digital Investigation.</a:t>
                      </a:r>
                      <a:endParaRPr lang="en-IN" sz="1200" kern="100" dirty="0">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algn="ctr"/>
                      <a:r>
                        <a:rPr lang="en-IN" sz="1200" b="0" i="0" dirty="0">
                          <a:solidFill>
                            <a:schemeClr val="dk1"/>
                          </a:solidFill>
                          <a:effectLst/>
                          <a:latin typeface="+mn-lt"/>
                          <a:ea typeface="+mn-ea"/>
                          <a:cs typeface="+mn-cs"/>
                        </a:rPr>
                        <a:t>2023</a:t>
                      </a:r>
                      <a:endParaRPr lang="en-US" sz="1200" dirty="0">
                        <a:latin typeface="+mn-lt"/>
                        <a:cs typeface="Times New Roman" panose="02020603050405020304" pitchFamily="18" charset="0"/>
                      </a:endParaRPr>
                    </a:p>
                  </a:txBody>
                  <a:tcPr/>
                </a:tc>
                <a:tc>
                  <a:txBody>
                    <a:bodyPr/>
                    <a:lstStyle/>
                    <a:p>
                      <a:pPr algn="ct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Silicon Valley AI Lab</a:t>
                      </a:r>
                      <a:endParaRPr lang="en-US" sz="1200" dirty="0">
                        <a:latin typeface="+mn-lt"/>
                        <a:cs typeface="Times New Roman" panose="02020603050405020304" pitchFamily="18" charset="0"/>
                      </a:endParaRPr>
                    </a:p>
                  </a:txBody>
                  <a:tcPr/>
                </a:tc>
                <a:tc>
                  <a:txBody>
                    <a:bodyPr/>
                    <a:lstStyle/>
                    <a:p>
                      <a:pPr algn="l"/>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Tandem detection cost function (t-DCF) and the equal error rate (EER). </a:t>
                      </a:r>
                      <a:endParaRPr lang="en-US" sz="1200" b="1" dirty="0">
                        <a:latin typeface="+mn-lt"/>
                        <a:cs typeface="Times New Roman" panose="02020603050405020304" pitchFamily="18" charset="0"/>
                      </a:endParaRPr>
                    </a:p>
                  </a:txBody>
                  <a:tcPr/>
                </a:tc>
                <a:tc>
                  <a:txBody>
                    <a:bodyPr/>
                    <a:lstStyle/>
                    <a:p>
                      <a:pPr>
                        <a:lnSpc>
                          <a:spcPct val="107000"/>
                        </a:lnSpc>
                        <a:spcAft>
                          <a:spcPts val="800"/>
                        </a:spcAf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Aims to assist digital forensic investigators in distinguishing between synthetic and real voices by evaluating the effectiveness of deep learning models for deepfake audio detection. </a:t>
                      </a:r>
                      <a:endParaRPr lang="en-IN" sz="1400" kern="100" dirty="0">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51816357"/>
                  </a:ext>
                </a:extLst>
              </a:tr>
              <a:tr h="2074607">
                <a:tc>
                  <a:txBody>
                    <a:bodyPr/>
                    <a:lstStyle/>
                    <a:p>
                      <a:pPr algn="l"/>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MLAAD: The Multi-Language Audio Anti-Spoofing Dataset</a:t>
                      </a:r>
                      <a:endParaRPr lang="en-US" sz="1200" dirty="0">
                        <a:solidFill>
                          <a:schemeClr val="tx1"/>
                        </a:solidFill>
                        <a:latin typeface="+mn-lt"/>
                        <a:cs typeface="Times New Roman" panose="02020603050405020304" pitchFamily="18" charset="0"/>
                      </a:endParaRPr>
                    </a:p>
                  </a:txBody>
                  <a:tcPr/>
                </a:tc>
                <a:tc>
                  <a:txBody>
                    <a:bodyPr/>
                    <a:lstStyle/>
                    <a:p>
                      <a:pPr algn="ctr"/>
                      <a:r>
                        <a:rPr lang="en-US" sz="1200" dirty="0">
                          <a:latin typeface="+mn-lt"/>
                          <a:cs typeface="Times New Roman" panose="02020603050405020304" pitchFamily="18" charset="0"/>
                        </a:rPr>
                        <a:t>2024</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Audio Anti-Spoof Dataset (MLAAD) </a:t>
                      </a:r>
                      <a:endParaRPr lang="en-US" sz="1200" dirty="0">
                        <a:latin typeface="+mn-lt"/>
                        <a:cs typeface="Times New Roman" panose="02020603050405020304" pitchFamily="18" charset="0"/>
                      </a:endParaRPr>
                    </a:p>
                  </a:txBody>
                  <a:tcPr/>
                </a:tc>
                <a:tc>
                  <a:txBody>
                    <a:bodyPr/>
                    <a:lstStyle/>
                    <a:p>
                      <a:pPr algn="l"/>
                      <a:r>
                        <a:rPr lang="en-US" sz="1200" b="0" dirty="0">
                          <a:latin typeface="+mn-lt"/>
                          <a:cs typeface="Times New Roman" panose="02020603050405020304" pitchFamily="18" charset="0"/>
                        </a:rPr>
                        <a:t>Accuracy</a:t>
                      </a:r>
                    </a:p>
                    <a:p>
                      <a:pPr algn="l"/>
                      <a:endParaRPr lang="en-US" sz="1200" b="1" dirty="0">
                        <a:latin typeface="+mn-lt"/>
                        <a:cs typeface="Times New Roman" panose="02020603050405020304" pitchFamily="18" charset="0"/>
                      </a:endParaRPr>
                    </a:p>
                  </a:txBody>
                  <a:tcPr/>
                </a:tc>
                <a:tc>
                  <a:txBody>
                    <a:bodyPr/>
                    <a:lstStyle/>
                    <a:p>
                      <a:pPr algn="l"/>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Demonstrates that MLAAD exhibits superior performance compared to other datasets when used for training deepfake detection models. Additionally, MLAAD complements existing datasets such as </a:t>
                      </a:r>
                      <a:r>
                        <a:rPr lang="en-US" sz="14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2019, showing high performance across different evaluation datasets</a:t>
                      </a:r>
                      <a:endParaRPr lang="en-US" sz="1400" b="0" i="0" dirty="0">
                        <a:solidFill>
                          <a:schemeClr val="dk1"/>
                        </a:solidFill>
                        <a:effectLst/>
                        <a:latin typeface="+mn-lt"/>
                        <a:ea typeface="+mn-ea"/>
                        <a:cs typeface="+mn-cs"/>
                      </a:endParaRPr>
                    </a:p>
                  </a:txBody>
                  <a:tcPr/>
                </a:tc>
                <a:extLst>
                  <a:ext uri="{0D108BD9-81ED-4DB2-BD59-A6C34878D82A}">
                    <a16:rowId xmlns:a16="http://schemas.microsoft.com/office/drawing/2014/main" val="4274688226"/>
                  </a:ext>
                </a:extLst>
              </a:tr>
              <a:tr h="1754813">
                <a:tc>
                  <a:txBody>
                    <a:bodyPr/>
                    <a:lstStyle/>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 Fake Generation and Detection: Issues, Challenges, and Solutions</a:t>
                      </a:r>
                    </a:p>
                  </a:txBody>
                  <a:tcPr/>
                </a:tc>
                <a:tc>
                  <a:txBody>
                    <a:bodyPr/>
                    <a:lstStyle/>
                    <a:p>
                      <a:pPr algn="ctr"/>
                      <a:r>
                        <a:rPr lang="en-US" sz="1200" dirty="0">
                          <a:latin typeface="+mn-lt"/>
                          <a:cs typeface="Times New Roman" panose="02020603050405020304" pitchFamily="18" charset="0"/>
                        </a:rPr>
                        <a:t>2023</a:t>
                      </a:r>
                    </a:p>
                  </a:txBody>
                  <a:tcPr/>
                </a:tc>
                <a:tc>
                  <a:txBody>
                    <a:bodyPr/>
                    <a:lstStyle/>
                    <a:p>
                      <a:pPr algn="ctr"/>
                      <a:r>
                        <a:rPr lang="en-US" sz="1200" dirty="0">
                          <a:latin typeface="+mn-lt"/>
                          <a:cs typeface="Times New Roman" panose="02020603050405020304" pitchFamily="18" charset="0"/>
                        </a:rPr>
                        <a:t>-</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Celeb DF,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FaceForensics</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DFDC, and DF-TIMIT</a:t>
                      </a:r>
                      <a:endParaRPr lang="en-US" sz="1200" dirty="0">
                        <a:latin typeface="+mn-lt"/>
                        <a:cs typeface="Times New Roman" panose="02020603050405020304" pitchFamily="18" charset="0"/>
                      </a:endParaRPr>
                    </a:p>
                  </a:txBody>
                  <a:tcPr/>
                </a:tc>
                <a:tc>
                  <a:txBody>
                    <a:bodyPr/>
                    <a:lstStyle/>
                    <a:p>
                      <a:pPr algn="l"/>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Accuracy, precision, recall, and F1-score </a:t>
                      </a:r>
                      <a:endParaRPr lang="en-US" sz="1200" b="1" dirty="0">
                        <a:latin typeface="+mn-lt"/>
                        <a:cs typeface="Times New Roman" panose="02020603050405020304" pitchFamily="18" charset="0"/>
                      </a:endParaRPr>
                    </a:p>
                  </a:txBody>
                  <a:tcPr/>
                </a:tc>
                <a:tc>
                  <a:txBody>
                    <a:bodyPr/>
                    <a:lstStyle/>
                    <a:p>
                      <a:pPr lvl="0">
                        <a:lnSpc>
                          <a:spcPct val="107000"/>
                        </a:lnSpc>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Aim to overcome limitations in existing methods by addressing challenges such as image details generation, handling occlusion, and integrating audio processing with computer vision techniques. The article emphasizes the importance of a comprehensive approach to tackle the deepfake problem.</a:t>
                      </a:r>
                    </a:p>
                  </a:txBody>
                  <a:tcPr/>
                </a:tc>
                <a:extLst>
                  <a:ext uri="{0D108BD9-81ED-4DB2-BD59-A6C34878D82A}">
                    <a16:rowId xmlns:a16="http://schemas.microsoft.com/office/drawing/2014/main" val="3824368294"/>
                  </a:ext>
                </a:extLst>
              </a:tr>
            </a:tbl>
          </a:graphicData>
        </a:graphic>
      </p:graphicFrame>
    </p:spTree>
    <p:extLst>
      <p:ext uri="{BB962C8B-B14F-4D97-AF65-F5344CB8AC3E}">
        <p14:creationId xmlns:p14="http://schemas.microsoft.com/office/powerpoint/2010/main" val="2175339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bject 2">
            <a:extLst>
              <a:ext uri="{FF2B5EF4-FFF2-40B4-BE49-F238E27FC236}">
                <a16:creationId xmlns:a16="http://schemas.microsoft.com/office/drawing/2014/main" id="{A22665B7-02A4-FB4E-4AB5-43CE61782B42}"/>
              </a:ext>
            </a:extLst>
          </p:cNvPr>
          <p:cNvPicPr/>
          <p:nvPr/>
        </p:nvPicPr>
        <p:blipFill>
          <a:blip r:embed="rId2" cstate="print"/>
          <a:stretch>
            <a:fillRect/>
          </a:stretch>
        </p:blipFill>
        <p:spPr>
          <a:xfrm>
            <a:off x="9235557" y="6059775"/>
            <a:ext cx="1967483" cy="655319"/>
          </a:xfrm>
          <a:prstGeom prst="rect">
            <a:avLst/>
          </a:prstGeom>
        </p:spPr>
      </p:pic>
      <p:graphicFrame>
        <p:nvGraphicFramePr>
          <p:cNvPr id="3" name="Table 2">
            <a:extLst>
              <a:ext uri="{FF2B5EF4-FFF2-40B4-BE49-F238E27FC236}">
                <a16:creationId xmlns:a16="http://schemas.microsoft.com/office/drawing/2014/main" id="{C793ABFA-61AF-09A7-F28A-C41E2431256C}"/>
              </a:ext>
            </a:extLst>
          </p:cNvPr>
          <p:cNvGraphicFramePr>
            <a:graphicFrameLocks noGrp="1"/>
          </p:cNvGraphicFramePr>
          <p:nvPr>
            <p:extLst>
              <p:ext uri="{D42A27DB-BD31-4B8C-83A1-F6EECF244321}">
                <p14:modId xmlns:p14="http://schemas.microsoft.com/office/powerpoint/2010/main" val="2808005879"/>
              </p:ext>
            </p:extLst>
          </p:nvPr>
        </p:nvGraphicFramePr>
        <p:xfrm>
          <a:off x="294641" y="88568"/>
          <a:ext cx="10898239" cy="5893788"/>
        </p:xfrm>
        <a:graphic>
          <a:graphicData uri="http://schemas.openxmlformats.org/drawingml/2006/table">
            <a:tbl>
              <a:tblPr firstRow="1" bandRow="1">
                <a:tableStyleId>{93296810-A885-4BE3-A3E7-6D5BEEA58F35}</a:tableStyleId>
              </a:tblPr>
              <a:tblGrid>
                <a:gridCol w="2874335">
                  <a:extLst>
                    <a:ext uri="{9D8B030D-6E8A-4147-A177-3AD203B41FA5}">
                      <a16:colId xmlns:a16="http://schemas.microsoft.com/office/drawing/2014/main" val="1293924860"/>
                    </a:ext>
                  </a:extLst>
                </a:gridCol>
                <a:gridCol w="1026548">
                  <a:extLst>
                    <a:ext uri="{9D8B030D-6E8A-4147-A177-3AD203B41FA5}">
                      <a16:colId xmlns:a16="http://schemas.microsoft.com/office/drawing/2014/main" val="1818747381"/>
                    </a:ext>
                  </a:extLst>
                </a:gridCol>
                <a:gridCol w="1950441">
                  <a:extLst>
                    <a:ext uri="{9D8B030D-6E8A-4147-A177-3AD203B41FA5}">
                      <a16:colId xmlns:a16="http://schemas.microsoft.com/office/drawing/2014/main" val="4290150667"/>
                    </a:ext>
                  </a:extLst>
                </a:gridCol>
                <a:gridCol w="1642477">
                  <a:extLst>
                    <a:ext uri="{9D8B030D-6E8A-4147-A177-3AD203B41FA5}">
                      <a16:colId xmlns:a16="http://schemas.microsoft.com/office/drawing/2014/main" val="4046209980"/>
                    </a:ext>
                  </a:extLst>
                </a:gridCol>
                <a:gridCol w="3404438">
                  <a:extLst>
                    <a:ext uri="{9D8B030D-6E8A-4147-A177-3AD203B41FA5}">
                      <a16:colId xmlns:a16="http://schemas.microsoft.com/office/drawing/2014/main" val="2813407364"/>
                    </a:ext>
                  </a:extLst>
                </a:gridCol>
              </a:tblGrid>
              <a:tr h="511538">
                <a:tc>
                  <a:txBody>
                    <a:bodyPr/>
                    <a:lstStyle/>
                    <a:p>
                      <a:pPr algn="ctr"/>
                      <a:r>
                        <a:rPr lang="en-US" sz="1400" dirty="0"/>
                        <a:t>Title</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Year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Dataset</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Evaluation Metrics</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t>Key Findings</a:t>
                      </a:r>
                      <a:endParaRPr lang="en-US" sz="1400" dirty="0">
                        <a:latin typeface="Times New Roman" panose="02020603050405020304" pitchFamily="18" charset="0"/>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2615050"/>
                  </a:ext>
                </a:extLst>
              </a:tr>
              <a:tr h="1985972">
                <a:tc>
                  <a:txBody>
                    <a:bodyPr/>
                    <a:lstStyle/>
                    <a:p>
                      <a:pPr algn="l"/>
                      <a:r>
                        <a:rPr lang="en-US" sz="1200" kern="100" dirty="0">
                          <a:latin typeface="Times New Roman" panose="02020603050405020304" pitchFamily="18" charset="0"/>
                          <a:ea typeface="Calibri" panose="020F0502020204030204" pitchFamily="34" charset="0"/>
                          <a:cs typeface="Times New Roman" panose="02020603050405020304" pitchFamily="18" charset="0"/>
                        </a:rPr>
                        <a:t>Pre-Training of Multi-Order Acoustic Simulation for Replay Voice Spoofing Detection</a:t>
                      </a:r>
                      <a:endParaRPr lang="en-US" sz="1200" dirty="0">
                        <a:solidFill>
                          <a:schemeClr val="tx1"/>
                        </a:solidFill>
                        <a:latin typeface="+mn-lt"/>
                        <a:cs typeface="Times New Roman" panose="02020603050405020304" pitchFamily="18" charset="0"/>
                      </a:endParaRPr>
                    </a:p>
                  </a:txBody>
                  <a:tcPr/>
                </a:tc>
                <a:tc>
                  <a:txBody>
                    <a:bodyPr/>
                    <a:lstStyle/>
                    <a:p>
                      <a:pPr algn="ctr"/>
                      <a:r>
                        <a:rPr lang="en-US" sz="1200" dirty="0">
                          <a:latin typeface="+mn-lt"/>
                          <a:cs typeface="Times New Roman" panose="02020603050405020304" pitchFamily="18" charset="0"/>
                        </a:rPr>
                        <a:t>2023</a:t>
                      </a:r>
                    </a:p>
                  </a:txBody>
                  <a:tcPr/>
                </a:tc>
                <a:tc>
                  <a:txBody>
                    <a:bodyPr/>
                    <a:lstStyle/>
                    <a:p>
                      <a:pPr algn="ctr"/>
                      <a:r>
                        <a:rPr lang="en-US" sz="1200" kern="100" dirty="0">
                          <a:latin typeface="Times New Roman" panose="02020603050405020304" pitchFamily="18" charset="0"/>
                          <a:ea typeface="Calibri" panose="020F0502020204030204" pitchFamily="34" charset="0"/>
                          <a:cs typeface="Times New Roman" panose="02020603050405020304" pitchFamily="18" charset="0"/>
                        </a:rPr>
                        <a:t>VCTK</a:t>
                      </a:r>
                      <a:endParaRPr lang="en-US" sz="1200" dirty="0">
                        <a:latin typeface="+mn-lt"/>
                        <a:cs typeface="Times New Roman" panose="02020603050405020304" pitchFamily="18" charset="0"/>
                      </a:endParaRPr>
                    </a:p>
                  </a:txBody>
                  <a:tcPr/>
                </a:tc>
                <a:tc>
                  <a:txBody>
                    <a:bodyPr/>
                    <a:lstStyle/>
                    <a:p>
                      <a:pPr fontAlgn="base"/>
                      <a:r>
                        <a:rPr lang="en-IN" sz="1200" b="1" dirty="0">
                          <a:effectLst/>
                          <a:latin typeface="+mn-lt"/>
                        </a:rPr>
                        <a:t>Accuracy</a:t>
                      </a:r>
                      <a:endParaRPr lang="en-IN" sz="1200" dirty="0">
                        <a:effectLst/>
                        <a:latin typeface="+mn-lt"/>
                      </a:endParaRPr>
                    </a:p>
                  </a:txBody>
                  <a:tcPr anchor="ctr"/>
                </a:tc>
                <a:tc>
                  <a:txBody>
                    <a:bodyPr/>
                    <a:lstStyle/>
                    <a:p>
                      <a:pPr lvl="0">
                        <a:lnSpc>
                          <a:spcPct val="107000"/>
                        </a:lnSpc>
                      </a:pPr>
                      <a:r>
                        <a:rPr lang="en-US" sz="1400" kern="100" dirty="0">
                          <a:latin typeface="Times New Roman" panose="02020603050405020304" pitchFamily="18" charset="0"/>
                          <a:ea typeface="Calibri" panose="020F0502020204030204" pitchFamily="34" charset="0"/>
                          <a:cs typeface="Times New Roman" panose="02020603050405020304" pitchFamily="18" charset="0"/>
                        </a:rPr>
                        <a:t>Aims to improve the performance of replay voice spoofing detection by leveraging pre-training based on multi-order acoustic simulation.</a:t>
                      </a:r>
                    </a:p>
                    <a:p>
                      <a:pPr algn="l"/>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1816357"/>
                  </a:ext>
                </a:extLst>
              </a:tr>
              <a:tr h="1674500">
                <a:tc>
                  <a:txBody>
                    <a:bodyPr/>
                    <a:lstStyle/>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Deepfake Detection and Low-Resource Language Speech Recognition Using Deep Learning</a:t>
                      </a:r>
                    </a:p>
                  </a:txBody>
                  <a:tcPr/>
                </a:tc>
                <a:tc>
                  <a:txBody>
                    <a:bodyPr/>
                    <a:lstStyle/>
                    <a:p>
                      <a:pPr algn="ctr"/>
                      <a:r>
                        <a:rPr lang="en-US" sz="1200" dirty="0">
                          <a:latin typeface="+mn-lt"/>
                          <a:cs typeface="Times New Roman" panose="02020603050405020304" pitchFamily="18" charset="0"/>
                        </a:rPr>
                        <a:t>2019</a:t>
                      </a:r>
                    </a:p>
                  </a:txBody>
                  <a:tcPr/>
                </a:tc>
                <a:tc>
                  <a:txBody>
                    <a:bodyPr/>
                    <a:lstStyle/>
                    <a:p>
                      <a:pPr algn="ctr"/>
                      <a:r>
                        <a:rPr lang="en-US" sz="1200" b="0" i="0" dirty="0">
                          <a:solidFill>
                            <a:schemeClr val="dk1"/>
                          </a:solidFill>
                          <a:effectLst/>
                          <a:latin typeface="+mn-lt"/>
                          <a:ea typeface="+mn-ea"/>
                          <a:cs typeface="+mn-cs"/>
                        </a:rPr>
                        <a:t>ASV SPOOF 2019</a:t>
                      </a:r>
                      <a:endParaRPr lang="en-IN" sz="1200" b="0" i="0" dirty="0">
                        <a:solidFill>
                          <a:schemeClr val="dk1"/>
                        </a:solidFill>
                        <a:effectLst/>
                        <a:latin typeface="+mn-lt"/>
                        <a:ea typeface="+mn-ea"/>
                        <a:cs typeface="+mn-cs"/>
                      </a:endParaRPr>
                    </a:p>
                  </a:txBody>
                  <a:tcPr/>
                </a:tc>
                <a:tc>
                  <a:txBody>
                    <a:bodyPr/>
                    <a:lstStyle/>
                    <a:p>
                      <a:pPr algn="l"/>
                      <a:r>
                        <a:rPr lang="en-US" sz="1200" b="0" dirty="0">
                          <a:latin typeface="+mn-lt"/>
                          <a:cs typeface="Times New Roman" panose="02020603050405020304" pitchFamily="18" charset="0"/>
                        </a:rPr>
                        <a:t>WER</a:t>
                      </a:r>
                      <a:endParaRPr lang="en-US" sz="1200" b="1" dirty="0">
                        <a:latin typeface="+mn-lt"/>
                        <a:cs typeface="Times New Roman" panose="020206030504050203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Proposed methods and architectures to improve ASR performance for low-resource languages and detect audio spoofing using deep learning techniques. Contribution to the advancement of technology for preserving endangered languages and combating fake audio content</a:t>
                      </a:r>
                      <a:endParaRPr lang="en-US" sz="1400" b="0" i="0" dirty="0">
                        <a:solidFill>
                          <a:schemeClr val="dk1"/>
                        </a:solidFill>
                        <a:effectLst/>
                        <a:latin typeface="+mn-lt"/>
                        <a:ea typeface="+mn-ea"/>
                        <a:cs typeface="+mn-cs"/>
                      </a:endParaRPr>
                    </a:p>
                  </a:txBody>
                  <a:tcPr/>
                </a:tc>
                <a:extLst>
                  <a:ext uri="{0D108BD9-81ED-4DB2-BD59-A6C34878D82A}">
                    <a16:rowId xmlns:a16="http://schemas.microsoft.com/office/drawing/2014/main" val="4274688226"/>
                  </a:ext>
                </a:extLst>
              </a:tr>
              <a:tr h="1715156">
                <a:tc>
                  <a:txBody>
                    <a:bodyPr/>
                    <a:lstStyle/>
                    <a:p>
                      <a:pPr lvl="0">
                        <a:lnSpc>
                          <a:spcPct val="107000"/>
                        </a:lnSpc>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Speaker Identification, Differentiation and Verification Using Deep Learning for Human Machine Interface</a:t>
                      </a:r>
                    </a:p>
                  </a:txBody>
                  <a:tcPr/>
                </a:tc>
                <a:tc>
                  <a:txBody>
                    <a:bodyPr/>
                    <a:lstStyle/>
                    <a:p>
                      <a:pPr algn="ctr"/>
                      <a:r>
                        <a:rPr lang="en-US" sz="1400" dirty="0">
                          <a:latin typeface="Times New Roman" panose="02020603050405020304" pitchFamily="18" charset="0"/>
                          <a:cs typeface="Times New Roman" panose="02020603050405020304" pitchFamily="18" charset="0"/>
                        </a:rPr>
                        <a:t>2023</a:t>
                      </a:r>
                    </a:p>
                  </a:txBody>
                  <a:tcPr/>
                </a:tc>
                <a:tc>
                  <a:txBody>
                    <a:bodyPr/>
                    <a:lstStyle/>
                    <a:p>
                      <a:pPr algn="ct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TIMIT, </a:t>
                      </a:r>
                      <a:r>
                        <a:rPr lang="en-US" sz="1400" kern="100" dirty="0" err="1">
                          <a:effectLst/>
                          <a:latin typeface="Times New Roman" panose="02020603050405020304" pitchFamily="18" charset="0"/>
                          <a:ea typeface="Calibri" panose="020F0502020204030204" pitchFamily="34" charset="0"/>
                          <a:cs typeface="Times New Roman" panose="02020603050405020304" pitchFamily="18" charset="0"/>
                        </a:rPr>
                        <a:t>VoxCeleb</a:t>
                      </a:r>
                      <a:endParaRPr lang="en-IN" sz="1400" b="0" i="0" dirty="0">
                        <a:solidFill>
                          <a:schemeClr val="dk1"/>
                        </a:solidFill>
                        <a:effectLst/>
                        <a:latin typeface="+mn-lt"/>
                        <a:ea typeface="+mn-ea"/>
                        <a:cs typeface="+mn-cs"/>
                      </a:endParaRPr>
                    </a:p>
                  </a:txBody>
                  <a:tcPr/>
                </a:tc>
                <a:tc>
                  <a:txBody>
                    <a:bodyPr/>
                    <a:lstStyle/>
                    <a:p>
                      <a:pPr algn="l"/>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Equal Error Rate (EER), Accuracy (AC)</a:t>
                      </a:r>
                      <a:endParaRPr lang="en-US" sz="1400" b="1" dirty="0">
                        <a:latin typeface="+mn-lt"/>
                        <a:cs typeface="Times New Roman" panose="02020603050405020304" pitchFamily="18" charset="0"/>
                      </a:endParaRPr>
                    </a:p>
                  </a:txBody>
                  <a:tcPr/>
                </a:tc>
                <a:tc>
                  <a:txBody>
                    <a:bodyPr/>
                    <a:lstStyle/>
                    <a:p>
                      <a:pPr lvl="0">
                        <a:lnSpc>
                          <a:spcPct val="107000"/>
                        </a:lnSpc>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comprehensive approach to speaker recognition using deep learning, addressing tasks such as speaker identification, verification, and differentiation. It demonstrates the effectiveness of the proposed model in accurately distinguishing between speakers and detecting fake speech.</a:t>
                      </a:r>
                    </a:p>
                  </a:txBody>
                  <a:tcPr/>
                </a:tc>
                <a:extLst>
                  <a:ext uri="{0D108BD9-81ED-4DB2-BD59-A6C34878D82A}">
                    <a16:rowId xmlns:a16="http://schemas.microsoft.com/office/drawing/2014/main" val="838225189"/>
                  </a:ext>
                </a:extLst>
              </a:tr>
            </a:tbl>
          </a:graphicData>
        </a:graphic>
      </p:graphicFrame>
    </p:spTree>
    <p:extLst>
      <p:ext uri="{BB962C8B-B14F-4D97-AF65-F5344CB8AC3E}">
        <p14:creationId xmlns:p14="http://schemas.microsoft.com/office/powerpoint/2010/main" val="1691870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bject 2">
            <a:extLst>
              <a:ext uri="{FF2B5EF4-FFF2-40B4-BE49-F238E27FC236}">
                <a16:creationId xmlns:a16="http://schemas.microsoft.com/office/drawing/2014/main" id="{A22665B7-02A4-FB4E-4AB5-43CE61782B42}"/>
              </a:ext>
            </a:extLst>
          </p:cNvPr>
          <p:cNvPicPr/>
          <p:nvPr/>
        </p:nvPicPr>
        <p:blipFill>
          <a:blip r:embed="rId2" cstate="print"/>
          <a:stretch>
            <a:fillRect/>
          </a:stretch>
        </p:blipFill>
        <p:spPr>
          <a:xfrm>
            <a:off x="9235557" y="6059775"/>
            <a:ext cx="1967483" cy="655319"/>
          </a:xfrm>
          <a:prstGeom prst="rect">
            <a:avLst/>
          </a:prstGeom>
        </p:spPr>
      </p:pic>
      <p:graphicFrame>
        <p:nvGraphicFramePr>
          <p:cNvPr id="3" name="Table 2">
            <a:extLst>
              <a:ext uri="{FF2B5EF4-FFF2-40B4-BE49-F238E27FC236}">
                <a16:creationId xmlns:a16="http://schemas.microsoft.com/office/drawing/2014/main" id="{C793ABFA-61AF-09A7-F28A-C41E2431256C}"/>
              </a:ext>
            </a:extLst>
          </p:cNvPr>
          <p:cNvGraphicFramePr>
            <a:graphicFrameLocks noGrp="1"/>
          </p:cNvGraphicFramePr>
          <p:nvPr>
            <p:extLst>
              <p:ext uri="{D42A27DB-BD31-4B8C-83A1-F6EECF244321}">
                <p14:modId xmlns:p14="http://schemas.microsoft.com/office/powerpoint/2010/main" val="2553145590"/>
              </p:ext>
            </p:extLst>
          </p:nvPr>
        </p:nvGraphicFramePr>
        <p:xfrm>
          <a:off x="216194" y="914400"/>
          <a:ext cx="10986846" cy="3973530"/>
        </p:xfrm>
        <a:graphic>
          <a:graphicData uri="http://schemas.openxmlformats.org/drawingml/2006/table">
            <a:tbl>
              <a:tblPr firstRow="1" bandRow="1">
                <a:tableStyleId>{93296810-A885-4BE3-A3E7-6D5BEEA58F35}</a:tableStyleId>
              </a:tblPr>
              <a:tblGrid>
                <a:gridCol w="2513939">
                  <a:extLst>
                    <a:ext uri="{9D8B030D-6E8A-4147-A177-3AD203B41FA5}">
                      <a16:colId xmlns:a16="http://schemas.microsoft.com/office/drawing/2014/main" val="1293924860"/>
                    </a:ext>
                  </a:extLst>
                </a:gridCol>
                <a:gridCol w="837980">
                  <a:extLst>
                    <a:ext uri="{9D8B030D-6E8A-4147-A177-3AD203B41FA5}">
                      <a16:colId xmlns:a16="http://schemas.microsoft.com/office/drawing/2014/main" val="1818747381"/>
                    </a:ext>
                  </a:extLst>
                </a:gridCol>
                <a:gridCol w="1675960">
                  <a:extLst>
                    <a:ext uri="{9D8B030D-6E8A-4147-A177-3AD203B41FA5}">
                      <a16:colId xmlns:a16="http://schemas.microsoft.com/office/drawing/2014/main" val="4290150667"/>
                    </a:ext>
                  </a:extLst>
                </a:gridCol>
                <a:gridCol w="2700157">
                  <a:extLst>
                    <a:ext uri="{9D8B030D-6E8A-4147-A177-3AD203B41FA5}">
                      <a16:colId xmlns:a16="http://schemas.microsoft.com/office/drawing/2014/main" val="4046209980"/>
                    </a:ext>
                  </a:extLst>
                </a:gridCol>
                <a:gridCol w="3258810">
                  <a:extLst>
                    <a:ext uri="{9D8B030D-6E8A-4147-A177-3AD203B41FA5}">
                      <a16:colId xmlns:a16="http://schemas.microsoft.com/office/drawing/2014/main" val="2813407364"/>
                    </a:ext>
                  </a:extLst>
                </a:gridCol>
              </a:tblGrid>
              <a:tr h="642003">
                <a:tc>
                  <a:txBody>
                    <a:bodyPr/>
                    <a:lstStyle/>
                    <a:p>
                      <a:pPr algn="ctr"/>
                      <a:r>
                        <a:rPr lang="en-US" sz="1400" dirty="0"/>
                        <a:t>Title</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Year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Dataset</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Evaluation Metrics</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t>Key Findings</a:t>
                      </a:r>
                      <a:endParaRPr lang="en-US" sz="1400" dirty="0">
                        <a:latin typeface="Times New Roman" panose="02020603050405020304" pitchFamily="18" charset="0"/>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2615050"/>
                  </a:ext>
                </a:extLst>
              </a:tr>
              <a:tr h="1908823">
                <a:tc>
                  <a:txBody>
                    <a:bodyPr/>
                    <a:lstStyle/>
                    <a:p>
                      <a:pPr lvl="0">
                        <a:lnSpc>
                          <a:spcPct val="107000"/>
                        </a:lnSpc>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Enhancing Voice Spoofing Detection Models with Wav2vec 2.0</a:t>
                      </a:r>
                    </a:p>
                  </a:txBody>
                  <a:tcPr/>
                </a:tc>
                <a:tc>
                  <a:txBody>
                    <a:bodyPr/>
                    <a:lstStyle/>
                    <a:p>
                      <a:pPr algn="ctr"/>
                      <a:r>
                        <a:rPr lang="en-US" sz="1400" dirty="0">
                          <a:latin typeface="Times New Roman" panose="02020603050405020304" pitchFamily="18" charset="0"/>
                          <a:cs typeface="Times New Roman" panose="02020603050405020304" pitchFamily="18" charset="0"/>
                        </a:rPr>
                        <a:t>2024</a:t>
                      </a:r>
                    </a:p>
                  </a:txBody>
                  <a:tcPr/>
                </a:tc>
                <a:tc>
                  <a:txBody>
                    <a:bodyPr/>
                    <a:lstStyle/>
                    <a:p>
                      <a:pPr algn="ctr"/>
                      <a:r>
                        <a:rPr lang="en-US" sz="1400" b="0" i="0" dirty="0">
                          <a:solidFill>
                            <a:schemeClr val="dk1"/>
                          </a:solidFill>
                          <a:effectLst/>
                          <a:latin typeface="+mn-lt"/>
                          <a:ea typeface="+mn-ea"/>
                          <a:cs typeface="+mn-cs"/>
                        </a:rPr>
                        <a:t>ASV SPOOF 2019</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Tandem detection cost function (t-DCF) and the equal error rate (EER). </a:t>
                      </a:r>
                      <a:endParaRPr lang="en-US" sz="1200" b="1" dirty="0">
                        <a:latin typeface="+mn-lt"/>
                        <a:cs typeface="Times New Roman" panose="02020603050405020304" pitchFamily="18" charset="0"/>
                      </a:endParaRPr>
                    </a:p>
                    <a:p>
                      <a:pPr algn="l"/>
                      <a:endParaRPr lang="en-US" sz="1200" dirty="0">
                        <a:latin typeface="Times New Roman" panose="02020603050405020304" pitchFamily="18" charset="0"/>
                        <a:cs typeface="Times New Roman" panose="02020603050405020304" pitchFamily="18" charset="0"/>
                      </a:endParaRPr>
                    </a:p>
                  </a:txBody>
                  <a:tcPr/>
                </a:tc>
                <a:tc>
                  <a:txBody>
                    <a:bodyPr/>
                    <a:lstStyle/>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incorporating wav2vec 2.0 as a front-end in spoofing detection systems led to significant performance enhancements compared to traditional handcrafted features. The optimized wav2vec 2.0 models, particularly when combined with certain spoofing detection back-end models, achieved state-of-the-art results in terms of EER and t-DCF on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2019 LA dataset.</a:t>
                      </a:r>
                    </a:p>
                  </a:txBody>
                  <a:tcPr/>
                </a:tc>
                <a:extLst>
                  <a:ext uri="{0D108BD9-81ED-4DB2-BD59-A6C34878D82A}">
                    <a16:rowId xmlns:a16="http://schemas.microsoft.com/office/drawing/2014/main" val="751816357"/>
                  </a:ext>
                </a:extLst>
              </a:tr>
              <a:tr h="1422704">
                <a:tc>
                  <a:txBody>
                    <a:bodyPr/>
                    <a:lstStyle/>
                    <a:p>
                      <a:pPr lvl="0">
                        <a:lnSpc>
                          <a:spcPct val="107000"/>
                        </a:lnSpc>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Anti </a:t>
                      </a:r>
                      <a:r>
                        <a:rPr lang="en-US" sz="1400" kern="100" dirty="0" err="1">
                          <a:effectLst/>
                          <a:latin typeface="Times New Roman" panose="02020603050405020304" pitchFamily="18" charset="0"/>
                          <a:ea typeface="Calibri" panose="020F0502020204030204" pitchFamily="34" charset="0"/>
                          <a:cs typeface="Times New Roman" panose="02020603050405020304" pitchFamily="18" charset="0"/>
                        </a:rPr>
                        <a:t>DeepFake</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AI for Deep Fake Speech Recognition</a:t>
                      </a:r>
                    </a:p>
                  </a:txBody>
                  <a:tcPr/>
                </a:tc>
                <a:tc>
                  <a:txBody>
                    <a:bodyPr/>
                    <a:lstStyle/>
                    <a:p>
                      <a:pPr algn="ctr"/>
                      <a:r>
                        <a:rPr lang="en-US" sz="1400" dirty="0">
                          <a:latin typeface="Times New Roman" panose="02020603050405020304" pitchFamily="18" charset="0"/>
                          <a:cs typeface="Times New Roman" panose="02020603050405020304" pitchFamily="18" charset="0"/>
                        </a:rPr>
                        <a:t>2024</a:t>
                      </a:r>
                    </a:p>
                  </a:txBody>
                  <a:tcPr/>
                </a:tc>
                <a:tc>
                  <a:txBody>
                    <a:bodyPr/>
                    <a:lstStyle/>
                    <a:p>
                      <a:pPr algn="ct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LJ Speech</a:t>
                      </a:r>
                      <a:endParaRPr lang="en-US" sz="1400" dirty="0">
                        <a:latin typeface="Times New Roman" panose="02020603050405020304" pitchFamily="18" charset="0"/>
                        <a:cs typeface="Times New Roman" panose="02020603050405020304" pitchFamily="18" charset="0"/>
                      </a:endParaRPr>
                    </a:p>
                  </a:txBody>
                  <a:tcPr/>
                </a:tc>
                <a:tc>
                  <a:txBody>
                    <a:bodyPr/>
                    <a:lstStyle/>
                    <a:p>
                      <a:pPr algn="l"/>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Accuracy, precision, recall, and F1-score</a:t>
                      </a:r>
                      <a:endParaRPr lang="en-US" sz="1400" b="1" dirty="0">
                        <a:latin typeface="+mn-lt"/>
                        <a:cs typeface="Times New Roman" panose="02020603050405020304" pitchFamily="18" charset="0"/>
                      </a:endParaRPr>
                    </a:p>
                  </a:txBody>
                  <a:tcPr/>
                </a:tc>
                <a:tc>
                  <a:txBody>
                    <a:bodyPr/>
                    <a:lstStyle/>
                    <a:p>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Proposes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AntiDeepFake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system, which demonstrates high accuracy and robustness in recognizing deepfake speech. The system utilizes SOTA AI models trained on significant features extracted from real and synthetic audio samples</a:t>
                      </a:r>
                      <a:endParaRPr lang="en-US" sz="1200" b="0" i="0" dirty="0">
                        <a:solidFill>
                          <a:schemeClr val="dk1"/>
                        </a:solidFill>
                        <a:effectLst/>
                        <a:latin typeface="+mn-lt"/>
                        <a:ea typeface="+mn-ea"/>
                        <a:cs typeface="+mn-cs"/>
                      </a:endParaRPr>
                    </a:p>
                  </a:txBody>
                  <a:tcPr/>
                </a:tc>
                <a:extLst>
                  <a:ext uri="{0D108BD9-81ED-4DB2-BD59-A6C34878D82A}">
                    <a16:rowId xmlns:a16="http://schemas.microsoft.com/office/drawing/2014/main" val="4274688226"/>
                  </a:ext>
                </a:extLst>
              </a:tr>
            </a:tbl>
          </a:graphicData>
        </a:graphic>
      </p:graphicFrame>
    </p:spTree>
    <p:extLst>
      <p:ext uri="{BB962C8B-B14F-4D97-AF65-F5344CB8AC3E}">
        <p14:creationId xmlns:p14="http://schemas.microsoft.com/office/powerpoint/2010/main" val="988027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3" name="object 2">
            <a:extLst>
              <a:ext uri="{FF2B5EF4-FFF2-40B4-BE49-F238E27FC236}">
                <a16:creationId xmlns:a16="http://schemas.microsoft.com/office/drawing/2014/main" id="{69E9DB4E-9842-2476-BFD1-B332304003C1}"/>
              </a:ext>
            </a:extLst>
          </p:cNvPr>
          <p:cNvSpPr txBox="1">
            <a:spLocks noEditPoints="1"/>
          </p:cNvSpPr>
          <p:nvPr/>
        </p:nvSpPr>
        <p:spPr>
          <a:xfrm>
            <a:off x="325015" y="380999"/>
            <a:ext cx="3637385"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GB" sz="2800" dirty="0">
                <a:effectLst/>
                <a:latin typeface="Times New Roman" panose="02020603050405020304" pitchFamily="18" charset="0"/>
                <a:ea typeface="Calibri" panose="020F0502020204030204" pitchFamily="34" charset="0"/>
                <a:cs typeface="Times New Roman" panose="02020603050405020304" pitchFamily="18" charset="0"/>
              </a:rPr>
              <a:t> PROPOSED </a:t>
            </a:r>
            <a:r>
              <a:rPr lang="en-GB" sz="2800" dirty="0">
                <a:latin typeface="Times New Roman" panose="02020603050405020304" pitchFamily="18" charset="0"/>
                <a:ea typeface="Calibri" panose="020F0502020204030204" pitchFamily="34" charset="0"/>
                <a:cs typeface="Times New Roman" panose="02020603050405020304" pitchFamily="18" charset="0"/>
              </a:rPr>
              <a:t>SYSTEM</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F4A7902-D002-4B96-EFC8-3E6CA473183E}"/>
              </a:ext>
            </a:extLst>
          </p:cNvPr>
          <p:cNvPicPr>
            <a:picLocks noChangeAspect="1"/>
          </p:cNvPicPr>
          <p:nvPr/>
        </p:nvPicPr>
        <p:blipFill>
          <a:blip r:embed="rId3"/>
          <a:stretch>
            <a:fillRect/>
          </a:stretch>
        </p:blipFill>
        <p:spPr>
          <a:xfrm>
            <a:off x="914400" y="1295400"/>
            <a:ext cx="9742675" cy="3962400"/>
          </a:xfrm>
          <a:prstGeom prst="rect">
            <a:avLst/>
          </a:prstGeom>
        </p:spPr>
      </p:pic>
    </p:spTree>
    <p:extLst>
      <p:ext uri="{BB962C8B-B14F-4D97-AF65-F5344CB8AC3E}">
        <p14:creationId xmlns:p14="http://schemas.microsoft.com/office/powerpoint/2010/main" val="431951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672CB6D9-DBDB-EF37-CECD-A7B2A36BA0FC}"/>
              </a:ext>
            </a:extLst>
          </p:cNvPr>
          <p:cNvSpPr txBox="1">
            <a:spLocks noEditPoints="1"/>
          </p:cNvSpPr>
          <p:nvPr/>
        </p:nvSpPr>
        <p:spPr>
          <a:xfrm>
            <a:off x="325015" y="380999"/>
            <a:ext cx="3103985"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US" sz="2800" dirty="0">
                <a:latin typeface="Times New Roman" panose="02020603050405020304" pitchFamily="18" charset="0"/>
                <a:cs typeface="Times New Roman" panose="02020603050405020304" pitchFamily="18" charset="0"/>
              </a:rPr>
              <a:t> METHODOLOGY</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24D54A3-EA86-E397-ADE1-80D83C20C588}"/>
              </a:ext>
            </a:extLst>
          </p:cNvPr>
          <p:cNvSpPr txBox="1"/>
          <p:nvPr/>
        </p:nvSpPr>
        <p:spPr>
          <a:xfrm>
            <a:off x="609601" y="1270369"/>
            <a:ext cx="5181600" cy="4062651"/>
          </a:xfrm>
          <a:prstGeom prst="rect">
            <a:avLst/>
          </a:prstGeom>
          <a:noFill/>
        </p:spPr>
        <p:txBody>
          <a:bodyPr wrap="square">
            <a:spAutoFit/>
          </a:bodyPr>
          <a:lstStyle/>
          <a:p>
            <a:r>
              <a:rPr lang="en-IN" sz="1500" b="1" dirty="0">
                <a:latin typeface="Times New Roman" panose="02020603050405020304" pitchFamily="18" charset="0"/>
                <a:cs typeface="Times New Roman" panose="02020603050405020304" pitchFamily="18" charset="0"/>
              </a:rPr>
              <a:t>Preprocessing:</a:t>
            </a:r>
            <a:endParaRPr lang="en-IN"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Clean and standardize audio data.</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Extract features like Mel-Frequency Cepstral Coefficients (MFCCs).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Normalize data for model input.</a:t>
            </a:r>
          </a:p>
          <a:p>
            <a:endParaRPr lang="en-IN" sz="1500" b="1" dirty="0">
              <a:latin typeface="Times New Roman" panose="02020603050405020304" pitchFamily="18" charset="0"/>
              <a:cs typeface="Times New Roman" panose="02020603050405020304" pitchFamily="18" charset="0"/>
            </a:endParaRPr>
          </a:p>
          <a:p>
            <a:r>
              <a:rPr lang="en-IN" sz="1500" b="1" dirty="0">
                <a:latin typeface="Times New Roman" panose="02020603050405020304" pitchFamily="18" charset="0"/>
                <a:cs typeface="Times New Roman" panose="02020603050405020304" pitchFamily="18" charset="0"/>
              </a:rPr>
              <a:t>Model Architecture:</a:t>
            </a:r>
            <a:endParaRPr lang="en-IN"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Utilize a Convolutional Neural Network (CNN) with Gated Recurrent Units (GRUs).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CNN extracts spatial features from MFCCs.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GRU captures temporal dependencies in sequential data.</a:t>
            </a:r>
          </a:p>
          <a:p>
            <a:endParaRPr lang="en-IN" sz="1500" dirty="0">
              <a:latin typeface="Times New Roman" panose="02020603050405020304" pitchFamily="18" charset="0"/>
              <a:cs typeface="Times New Roman" panose="02020603050405020304" pitchFamily="18" charset="0"/>
            </a:endParaRPr>
          </a:p>
          <a:p>
            <a:r>
              <a:rPr lang="en-IN" sz="1500" b="1" dirty="0">
                <a:latin typeface="Times New Roman" panose="02020603050405020304" pitchFamily="18" charset="0"/>
                <a:cs typeface="Times New Roman" panose="02020603050405020304" pitchFamily="18" charset="0"/>
              </a:rPr>
              <a:t>Training:</a:t>
            </a:r>
            <a:endParaRPr lang="en-IN"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Split dataset into training, validation, and test sets.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Train CNN-GRU model using stochastic gradient descent with momentum.</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Implement learning rate scheduling for optimization</a:t>
            </a:r>
            <a:r>
              <a:rPr lang="en-IN" dirty="0">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3A280C5E-0A5B-BE8C-F428-824E98924D7F}"/>
              </a:ext>
            </a:extLst>
          </p:cNvPr>
          <p:cNvPicPr>
            <a:picLocks noChangeAspect="1"/>
          </p:cNvPicPr>
          <p:nvPr/>
        </p:nvPicPr>
        <p:blipFill>
          <a:blip r:embed="rId2"/>
          <a:stretch>
            <a:fillRect/>
          </a:stretch>
        </p:blipFill>
        <p:spPr>
          <a:xfrm>
            <a:off x="5848739" y="1371600"/>
            <a:ext cx="5562600" cy="1219200"/>
          </a:xfrm>
          <a:prstGeom prst="rect">
            <a:avLst/>
          </a:prstGeom>
        </p:spPr>
      </p:pic>
      <p:pic>
        <p:nvPicPr>
          <p:cNvPr id="3" name="Picture 2">
            <a:extLst>
              <a:ext uri="{FF2B5EF4-FFF2-40B4-BE49-F238E27FC236}">
                <a16:creationId xmlns:a16="http://schemas.microsoft.com/office/drawing/2014/main" id="{6EF6895A-A070-DA52-0585-AA07AD7E1953}"/>
              </a:ext>
            </a:extLst>
          </p:cNvPr>
          <p:cNvPicPr>
            <a:picLocks noChangeAspect="1"/>
          </p:cNvPicPr>
          <p:nvPr/>
        </p:nvPicPr>
        <p:blipFill rotWithShape="1">
          <a:blip r:embed="rId3"/>
          <a:srcRect l="4198" t="1870"/>
          <a:stretch/>
        </p:blipFill>
        <p:spPr>
          <a:xfrm>
            <a:off x="5607312" y="3061996"/>
            <a:ext cx="2927089" cy="2488600"/>
          </a:xfrm>
          <a:prstGeom prst="rect">
            <a:avLst/>
          </a:prstGeom>
        </p:spPr>
      </p:pic>
      <p:pic>
        <p:nvPicPr>
          <p:cNvPr id="5" name="Picture 4">
            <a:extLst>
              <a:ext uri="{FF2B5EF4-FFF2-40B4-BE49-F238E27FC236}">
                <a16:creationId xmlns:a16="http://schemas.microsoft.com/office/drawing/2014/main" id="{31218A7D-0EE1-ADD6-430A-DC27AC7C5992}"/>
              </a:ext>
            </a:extLst>
          </p:cNvPr>
          <p:cNvPicPr>
            <a:picLocks noChangeAspect="1"/>
          </p:cNvPicPr>
          <p:nvPr/>
        </p:nvPicPr>
        <p:blipFill rotWithShape="1">
          <a:blip r:embed="rId4"/>
          <a:srcRect l="2055" t="1724" r="1805" b="1724"/>
          <a:stretch/>
        </p:blipFill>
        <p:spPr>
          <a:xfrm>
            <a:off x="8532846" y="3061996"/>
            <a:ext cx="2743200" cy="2488600"/>
          </a:xfrm>
          <a:prstGeom prst="rect">
            <a:avLst/>
          </a:prstGeom>
        </p:spPr>
      </p:pic>
    </p:spTree>
    <p:extLst>
      <p:ext uri="{BB962C8B-B14F-4D97-AF65-F5344CB8AC3E}">
        <p14:creationId xmlns:p14="http://schemas.microsoft.com/office/powerpoint/2010/main" val="2531712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4" name="object 2">
            <a:extLst>
              <a:ext uri="{FF2B5EF4-FFF2-40B4-BE49-F238E27FC236}">
                <a16:creationId xmlns:a16="http://schemas.microsoft.com/office/drawing/2014/main" id="{1FE3BDC7-BECC-5168-B706-F06226B61FFA}"/>
              </a:ext>
            </a:extLst>
          </p:cNvPr>
          <p:cNvSpPr txBox="1">
            <a:spLocks noEditPoints="1"/>
          </p:cNvSpPr>
          <p:nvPr/>
        </p:nvSpPr>
        <p:spPr>
          <a:xfrm>
            <a:off x="325016" y="381000"/>
            <a:ext cx="1808584"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US" sz="2800" dirty="0">
                <a:latin typeface="Times New Roman" panose="02020603050405020304" pitchFamily="18" charset="0"/>
                <a:cs typeface="Times New Roman" panose="02020603050405020304" pitchFamily="18" charset="0"/>
              </a:rPr>
              <a:t> RESULTS</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9BDC047-3FD9-BE5F-EA01-34AAEB54F20F}"/>
              </a:ext>
            </a:extLst>
          </p:cNvPr>
          <p:cNvSpPr txBox="1"/>
          <p:nvPr/>
        </p:nvSpPr>
        <p:spPr>
          <a:xfrm>
            <a:off x="457200" y="1004298"/>
            <a:ext cx="6628580" cy="4849404"/>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Performance Metrics</a:t>
            </a:r>
            <a:r>
              <a:rPr lang="en-US" sz="1600" dirty="0">
                <a:latin typeface="Times New Roman" panose="02020603050405020304" pitchFamily="18" charset="0"/>
                <a:cs typeface="Times New Roman" panose="02020603050405020304" pitchFamily="18" charset="0"/>
              </a:rPr>
              <a:t>: Achieved high accuracy, precision, recall, and F1-score in accent recognition tasks, indicating the model's effectiveness in distinguishing between accents.</a:t>
            </a:r>
            <a:endParaRPr lang="en-US" sz="1600" b="1"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Robustness: Demonstrated </a:t>
            </a:r>
            <a:r>
              <a:rPr lang="en-US" sz="1600" dirty="0">
                <a:latin typeface="Times New Roman" panose="02020603050405020304" pitchFamily="18" charset="0"/>
                <a:cs typeface="Times New Roman" panose="02020603050405020304" pitchFamily="18" charset="0"/>
              </a:rPr>
              <a:t>robustness in discriminating between different accents, showcasing the model's ability to handle diverse linguistic variations.</a:t>
            </a:r>
          </a:p>
          <a:p>
            <a:pPr marL="285750" indent="-28575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Generalization</a:t>
            </a:r>
            <a:r>
              <a:rPr lang="en-US" sz="1600" dirty="0">
                <a:latin typeface="Times New Roman" panose="02020603050405020304" pitchFamily="18" charset="0"/>
                <a:cs typeface="Times New Roman" panose="02020603050405020304" pitchFamily="18" charset="0"/>
              </a:rPr>
              <a:t>: Showed strong generalization ability across different accents not present in the training data, highlighting the model's adaptability to unseen accent variations.</a:t>
            </a:r>
          </a:p>
          <a:p>
            <a:pPr marL="285750" indent="-28575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Real-world Applicability</a:t>
            </a:r>
            <a:r>
              <a:rPr lang="en-US" sz="1600" dirty="0">
                <a:latin typeface="Times New Roman" panose="02020603050405020304" pitchFamily="18" charset="0"/>
                <a:cs typeface="Times New Roman" panose="02020603050405020304" pitchFamily="18" charset="0"/>
              </a:rPr>
              <a:t>: The CNN-GRU  and RF model's performance underscores its potential utility in real-world applications, such as speech-to-text transcription</a:t>
            </a:r>
            <a:r>
              <a:rPr lang="en-US" sz="1600" dirty="0"/>
              <a:t>, language learning tools, and cross-cultural </a:t>
            </a:r>
            <a:r>
              <a:rPr lang="en-US" sz="1600" dirty="0">
                <a:latin typeface="Times New Roman" panose="02020603050405020304" pitchFamily="18" charset="0"/>
                <a:cs typeface="Times New Roman" panose="02020603050405020304" pitchFamily="18" charset="0"/>
              </a:rPr>
              <a:t>communication platforms.</a:t>
            </a:r>
            <a:endParaRPr lang="en-IN" sz="16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86D7493-C24C-0CC6-B6EB-807580809D04}"/>
              </a:ext>
            </a:extLst>
          </p:cNvPr>
          <p:cNvPicPr>
            <a:picLocks noChangeAspect="1"/>
          </p:cNvPicPr>
          <p:nvPr/>
        </p:nvPicPr>
        <p:blipFill rotWithShape="1">
          <a:blip r:embed="rId3"/>
          <a:srcRect l="1703" t="3239" r="4288" b="2833"/>
          <a:stretch/>
        </p:blipFill>
        <p:spPr>
          <a:xfrm>
            <a:off x="7239000" y="1066800"/>
            <a:ext cx="3886200" cy="4419600"/>
          </a:xfrm>
          <a:prstGeom prst="rect">
            <a:avLst/>
          </a:prstGeom>
        </p:spPr>
      </p:pic>
    </p:spTree>
    <p:extLst>
      <p:ext uri="{BB962C8B-B14F-4D97-AF65-F5344CB8AC3E}">
        <p14:creationId xmlns:p14="http://schemas.microsoft.com/office/powerpoint/2010/main" val="2359854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4" name="object 2">
            <a:extLst>
              <a:ext uri="{FF2B5EF4-FFF2-40B4-BE49-F238E27FC236}">
                <a16:creationId xmlns:a16="http://schemas.microsoft.com/office/drawing/2014/main" id="{1FE3BDC7-BECC-5168-B706-F06226B61FFA}"/>
              </a:ext>
            </a:extLst>
          </p:cNvPr>
          <p:cNvSpPr txBox="1">
            <a:spLocks noEditPoints="1"/>
          </p:cNvSpPr>
          <p:nvPr/>
        </p:nvSpPr>
        <p:spPr>
          <a:xfrm>
            <a:off x="304800" y="291262"/>
            <a:ext cx="1808584"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US" sz="2800" dirty="0">
                <a:latin typeface="Times New Roman" panose="02020603050405020304" pitchFamily="18" charset="0"/>
                <a:cs typeface="Times New Roman" panose="02020603050405020304" pitchFamily="18" charset="0"/>
              </a:rPr>
              <a:t> RESULTS</a:t>
            </a:r>
            <a:endParaRPr lang="en-IN"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72BE4D9-0084-487A-25BF-7B092B02D758}"/>
              </a:ext>
            </a:extLst>
          </p:cNvPr>
          <p:cNvPicPr>
            <a:picLocks noChangeAspect="1"/>
          </p:cNvPicPr>
          <p:nvPr/>
        </p:nvPicPr>
        <p:blipFill>
          <a:blip r:embed="rId3"/>
          <a:stretch>
            <a:fillRect/>
          </a:stretch>
        </p:blipFill>
        <p:spPr>
          <a:xfrm>
            <a:off x="609601" y="1981200"/>
            <a:ext cx="5486400" cy="2133600"/>
          </a:xfrm>
          <a:prstGeom prst="rect">
            <a:avLst/>
          </a:prstGeom>
        </p:spPr>
      </p:pic>
      <p:pic>
        <p:nvPicPr>
          <p:cNvPr id="5" name="Picture 4">
            <a:extLst>
              <a:ext uri="{FF2B5EF4-FFF2-40B4-BE49-F238E27FC236}">
                <a16:creationId xmlns:a16="http://schemas.microsoft.com/office/drawing/2014/main" id="{5C2B6B63-F3DF-575C-1810-FB3BFF95E1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981200"/>
            <a:ext cx="5181600" cy="2133600"/>
          </a:xfrm>
          <a:prstGeom prst="rect">
            <a:avLst/>
          </a:prstGeom>
        </p:spPr>
      </p:pic>
      <p:sp>
        <p:nvSpPr>
          <p:cNvPr id="7" name="TextBox 6">
            <a:extLst>
              <a:ext uri="{FF2B5EF4-FFF2-40B4-BE49-F238E27FC236}">
                <a16:creationId xmlns:a16="http://schemas.microsoft.com/office/drawing/2014/main" id="{AFC106F0-6C9E-1D6F-721D-1B954785E52A}"/>
              </a:ext>
            </a:extLst>
          </p:cNvPr>
          <p:cNvSpPr txBox="1"/>
          <p:nvPr/>
        </p:nvSpPr>
        <p:spPr>
          <a:xfrm>
            <a:off x="2126084" y="4267200"/>
            <a:ext cx="1981200" cy="369332"/>
          </a:xfrm>
          <a:prstGeom prst="rect">
            <a:avLst/>
          </a:prstGeom>
          <a:noFill/>
        </p:spPr>
        <p:txBody>
          <a:bodyPr wrap="square" rtlCol="0">
            <a:spAutoFit/>
          </a:bodyPr>
          <a:lstStyle/>
          <a:p>
            <a:r>
              <a:rPr lang="en-US" dirty="0"/>
              <a:t>CNN+GRU</a:t>
            </a:r>
            <a:endParaRPr lang="en-IN" dirty="0"/>
          </a:p>
        </p:txBody>
      </p:sp>
      <p:sp>
        <p:nvSpPr>
          <p:cNvPr id="9" name="TextBox 8">
            <a:extLst>
              <a:ext uri="{FF2B5EF4-FFF2-40B4-BE49-F238E27FC236}">
                <a16:creationId xmlns:a16="http://schemas.microsoft.com/office/drawing/2014/main" id="{893A804D-B21B-3871-A8CE-31521D4A7F7D}"/>
              </a:ext>
            </a:extLst>
          </p:cNvPr>
          <p:cNvSpPr txBox="1"/>
          <p:nvPr/>
        </p:nvSpPr>
        <p:spPr>
          <a:xfrm>
            <a:off x="7467600" y="4114800"/>
            <a:ext cx="1920357" cy="369332"/>
          </a:xfrm>
          <a:prstGeom prst="rect">
            <a:avLst/>
          </a:prstGeom>
          <a:noFill/>
        </p:spPr>
        <p:txBody>
          <a:bodyPr wrap="square" rtlCol="0">
            <a:spAutoFit/>
          </a:bodyPr>
          <a:lstStyle/>
          <a:p>
            <a:r>
              <a:rPr lang="en-US" dirty="0"/>
              <a:t> Random Forest</a:t>
            </a:r>
            <a:endParaRPr lang="en-IN" dirty="0"/>
          </a:p>
        </p:txBody>
      </p:sp>
    </p:spTree>
    <p:extLst>
      <p:ext uri="{BB962C8B-B14F-4D97-AF65-F5344CB8AC3E}">
        <p14:creationId xmlns:p14="http://schemas.microsoft.com/office/powerpoint/2010/main" val="1593754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4" name="object 2">
            <a:extLst>
              <a:ext uri="{FF2B5EF4-FFF2-40B4-BE49-F238E27FC236}">
                <a16:creationId xmlns:a16="http://schemas.microsoft.com/office/drawing/2014/main" id="{1FE3BDC7-BECC-5168-B706-F06226B61FFA}"/>
              </a:ext>
            </a:extLst>
          </p:cNvPr>
          <p:cNvSpPr txBox="1">
            <a:spLocks noEditPoints="1"/>
          </p:cNvSpPr>
          <p:nvPr/>
        </p:nvSpPr>
        <p:spPr>
          <a:xfrm>
            <a:off x="325016" y="381000"/>
            <a:ext cx="2570584"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US" sz="2800" dirty="0">
                <a:latin typeface="Times New Roman" panose="02020603050405020304" pitchFamily="18" charset="0"/>
                <a:cs typeface="Times New Roman" panose="02020603050405020304" pitchFamily="18" charset="0"/>
              </a:rPr>
              <a:t> CONCLUSION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32A0FFE-4C96-DFC2-9FAE-10452E1C1BBB}"/>
              </a:ext>
            </a:extLst>
          </p:cNvPr>
          <p:cNvSpPr txBox="1"/>
          <p:nvPr/>
        </p:nvSpPr>
        <p:spPr>
          <a:xfrm>
            <a:off x="1066800" y="1600200"/>
            <a:ext cx="9754420" cy="2951064"/>
          </a:xfrm>
          <a:prstGeom prst="rect">
            <a:avLst/>
          </a:prstGeom>
          <a:noFill/>
        </p:spPr>
        <p:txBody>
          <a:bodyPr wrap="square">
            <a:spAutoFit/>
          </a:bodyPr>
          <a:lstStyle/>
          <a:p>
            <a:pPr algn="just">
              <a:lnSpc>
                <a:spcPct val="150000"/>
              </a:lnSpc>
            </a:pPr>
            <a:r>
              <a:rPr lang="en-US" b="0" i="0" dirty="0">
                <a:solidFill>
                  <a:srgbClr val="0D0D0D"/>
                </a:solidFill>
                <a:effectLst/>
                <a:latin typeface="Times New Roman" panose="02020603050405020304" pitchFamily="18" charset="0"/>
                <a:cs typeface="Times New Roman" panose="02020603050405020304" pitchFamily="18" charset="0"/>
              </a:rPr>
              <a:t>Our speech accent recognition system, utilizing CNNs and GRUs, effectively identifies accents in spoken English with high accuracy and robustness. CNN-GRU architecture demonstrates potential for real-world applications, including language technology enhancement and cross-cultural communication facilitation. Additionally, exploring Random Forest classifiers offers insights into alternative approaches for accent recognition tasks, complementing the strengths of CNN-GRU models. Through thorough evaluation, our system aims to provide valuable insights into accent recognition methodologies, contributing to linguistic inclusivity and understanding.</a:t>
            </a:r>
          </a:p>
        </p:txBody>
      </p:sp>
    </p:spTree>
    <p:extLst>
      <p:ext uri="{BB962C8B-B14F-4D97-AF65-F5344CB8AC3E}">
        <p14:creationId xmlns:p14="http://schemas.microsoft.com/office/powerpoint/2010/main" val="747330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4" name="object 2">
            <a:extLst>
              <a:ext uri="{FF2B5EF4-FFF2-40B4-BE49-F238E27FC236}">
                <a16:creationId xmlns:a16="http://schemas.microsoft.com/office/drawing/2014/main" id="{EE8371D0-E79D-484E-E1B7-F83D21A0DA01}"/>
              </a:ext>
            </a:extLst>
          </p:cNvPr>
          <p:cNvSpPr txBox="1">
            <a:spLocks noEditPoints="1"/>
          </p:cNvSpPr>
          <p:nvPr/>
        </p:nvSpPr>
        <p:spPr>
          <a:xfrm>
            <a:off x="685800" y="582137"/>
            <a:ext cx="2590800" cy="432170"/>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US" sz="2800" dirty="0">
                <a:latin typeface="Times New Roman" panose="02020603050405020304" pitchFamily="18" charset="0"/>
                <a:cs typeface="Times New Roman" panose="02020603050405020304" pitchFamily="18" charset="0"/>
              </a:rPr>
              <a:t> </a:t>
            </a:r>
            <a:r>
              <a:rPr lang="en-GB" sz="2800" dirty="0">
                <a:latin typeface="Times New Roman" panose="02020603050405020304" pitchFamily="18" charset="0"/>
                <a:cs typeface="Times New Roman" panose="02020603050405020304" pitchFamily="18" charset="0"/>
              </a:rPr>
              <a:t>REFERENCES</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C49BCF0-6F6F-8260-FCC4-A40B3F24B34A}"/>
              </a:ext>
            </a:extLst>
          </p:cNvPr>
          <p:cNvSpPr txBox="1"/>
          <p:nvPr/>
        </p:nvSpPr>
        <p:spPr>
          <a:xfrm rot="10800000" flipH="1" flipV="1">
            <a:off x="809527" y="1643895"/>
            <a:ext cx="10572946" cy="3570208"/>
          </a:xfrm>
          <a:prstGeom prst="rect">
            <a:avLst/>
          </a:prstGeom>
          <a:noFill/>
        </p:spPr>
        <p:txBody>
          <a:bodyPr wrap="square" rtlCol="0">
            <a:spAutoFit/>
          </a:bodyPr>
          <a:lstStyle/>
          <a:p>
            <a:pPr marL="342900" indent="-342900">
              <a:buFont typeface="+mj-lt"/>
              <a:buAutoNum type="arabicParenR"/>
            </a:pPr>
            <a:r>
              <a:rPr lang="en-US" sz="1600" dirty="0" err="1">
                <a:latin typeface="Times New Roman" panose="02020603050405020304" pitchFamily="18" charset="0"/>
                <a:cs typeface="Times New Roman" panose="02020603050405020304" pitchFamily="18" charset="0"/>
              </a:rPr>
              <a:t>Shergill</a:t>
            </a:r>
            <a:r>
              <a:rPr lang="en-US" sz="1600" dirty="0">
                <a:latin typeface="Times New Roman" panose="02020603050405020304" pitchFamily="18" charset="0"/>
                <a:cs typeface="Times New Roman" panose="02020603050405020304" pitchFamily="18" charset="0"/>
              </a:rPr>
              <a:t>, J., Pravin, C., &amp; Ojha, V. (2021). Accent and Gender Recognition from English Language Speech and Audio Using Signal Processing and Deep Learning. In Proceedings of the International Conference on Artificial Intelligence and Data Engineering (ICAIDE 2021) (pp. 62-72). Springer. DOI: 10.1007/978-3-030-73050-5_7</a:t>
            </a:r>
          </a:p>
          <a:p>
            <a:pPr marL="342900" indent="-342900">
              <a:buFont typeface="+mj-lt"/>
              <a:buAutoNum type="arabicParenR"/>
            </a:pP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arenR"/>
            </a:pPr>
            <a:r>
              <a:rPr lang="en-US" sz="1600" dirty="0">
                <a:latin typeface="Times New Roman" panose="02020603050405020304" pitchFamily="18" charset="0"/>
                <a:cs typeface="Times New Roman" panose="02020603050405020304" pitchFamily="18" charset="0"/>
              </a:rPr>
              <a:t>Cetin, O. Accent Recognition Using a Spectrogram Image Feature-Based Convolutional Neural Network. Arab J Sci Eng 48, 1973–1990 (2023). https://doi.org/10.1007/s13369-022-07086-9</a:t>
            </a:r>
          </a:p>
          <a:p>
            <a:pPr marL="342900" indent="-342900">
              <a:buFont typeface="+mj-lt"/>
              <a:buAutoNum type="arabicParenR"/>
            </a:pP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arenR"/>
            </a:pPr>
            <a:r>
              <a:rPr lang="en-US" sz="1600" dirty="0">
                <a:latin typeface="Times New Roman" panose="02020603050405020304" pitchFamily="18" charset="0"/>
                <a:cs typeface="Times New Roman" panose="02020603050405020304" pitchFamily="18" charset="0"/>
              </a:rPr>
              <a:t>D. S. </a:t>
            </a:r>
            <a:r>
              <a:rPr lang="en-US" sz="1600" dirty="0" err="1">
                <a:latin typeface="Times New Roman" panose="02020603050405020304" pitchFamily="18" charset="0"/>
                <a:cs typeface="Times New Roman" panose="02020603050405020304" pitchFamily="18" charset="0"/>
              </a:rPr>
              <a:t>Widyowaty</a:t>
            </a:r>
            <a:r>
              <a:rPr lang="en-US" sz="1600" dirty="0">
                <a:latin typeface="Times New Roman" panose="02020603050405020304" pitchFamily="18" charset="0"/>
                <a:cs typeface="Times New Roman" panose="02020603050405020304" pitchFamily="18" charset="0"/>
              </a:rPr>
              <a:t> and A. </a:t>
            </a:r>
            <a:r>
              <a:rPr lang="en-US" sz="1600" dirty="0" err="1">
                <a:latin typeface="Times New Roman" panose="02020603050405020304" pitchFamily="18" charset="0"/>
                <a:cs typeface="Times New Roman" panose="02020603050405020304" pitchFamily="18" charset="0"/>
              </a:rPr>
              <a:t>Sunyoto</a:t>
            </a:r>
            <a:r>
              <a:rPr lang="en-US" sz="1600" dirty="0">
                <a:latin typeface="Times New Roman" panose="02020603050405020304" pitchFamily="18" charset="0"/>
                <a:cs typeface="Times New Roman" panose="02020603050405020304" pitchFamily="18" charset="0"/>
              </a:rPr>
              <a:t>, "Accent Recognition by Native Language Using Mel-Frequency Cepstral Coefficient and K-Nearest Neighbor," 2020 3rd International Conference on Information and Communications Technology (ICOIACT), Yogyakarta, Indonesia, 2020, pp. 314-318,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10.1109/ICOIACT50329.2020.9332026.</a:t>
            </a:r>
          </a:p>
          <a:p>
            <a:pPr marL="342900" indent="-342900">
              <a:buFont typeface="+mj-lt"/>
              <a:buAutoNum type="arabicParenR"/>
            </a:pP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arenR"/>
            </a:pPr>
            <a:r>
              <a:rPr lang="en-US" sz="1600" dirty="0">
                <a:latin typeface="Times New Roman" panose="02020603050405020304" pitchFamily="18" charset="0"/>
                <a:cs typeface="Times New Roman" panose="02020603050405020304" pitchFamily="18" charset="0"/>
              </a:rPr>
              <a:t>Zhong, Jiang et al. “Adaptive recognition of different accents conversations based on convolutional neural network.” Multimedia Tools and Applications 78 (2018): 30749 - 30767.</a:t>
            </a:r>
          </a:p>
          <a:p>
            <a:endParaRPr lang="en-US" dirty="0"/>
          </a:p>
        </p:txBody>
      </p:sp>
    </p:spTree>
    <p:extLst>
      <p:ext uri="{BB962C8B-B14F-4D97-AF65-F5344CB8AC3E}">
        <p14:creationId xmlns:p14="http://schemas.microsoft.com/office/powerpoint/2010/main" val="3396221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6" name="TextBox 5">
            <a:extLst>
              <a:ext uri="{FF2B5EF4-FFF2-40B4-BE49-F238E27FC236}">
                <a16:creationId xmlns:a16="http://schemas.microsoft.com/office/drawing/2014/main" id="{3C49BCF0-6F6F-8260-FCC4-A40B3F24B34A}"/>
              </a:ext>
            </a:extLst>
          </p:cNvPr>
          <p:cNvSpPr txBox="1"/>
          <p:nvPr/>
        </p:nvSpPr>
        <p:spPr>
          <a:xfrm rot="10800000" flipH="1" flipV="1">
            <a:off x="809527" y="1289953"/>
            <a:ext cx="10572946" cy="4278094"/>
          </a:xfrm>
          <a:prstGeom prst="rect">
            <a:avLst/>
          </a:prstGeom>
          <a:noFill/>
        </p:spPr>
        <p:txBody>
          <a:bodyPr wrap="square" rtlCol="0">
            <a:spAutoFit/>
          </a:bodyPr>
          <a:lstStyle/>
          <a:p>
            <a:r>
              <a:rPr lang="en-US" sz="1600" dirty="0"/>
              <a:t>5) </a:t>
            </a:r>
            <a:r>
              <a:rPr lang="en-US" sz="1600" dirty="0">
                <a:latin typeface="Times New Roman" panose="02020603050405020304" pitchFamily="18" charset="0"/>
                <a:cs typeface="Times New Roman" panose="02020603050405020304" pitchFamily="18" charset="0"/>
              </a:rPr>
              <a:t>Huang, H., Xiang, X., Yang, Y., Ma, R., &amp; Qian, Y. (2021). AISPEECH-SJTU accent identification system for the</a:t>
            </a:r>
          </a:p>
          <a:p>
            <a:r>
              <a:rPr lang="en-US" sz="1600" dirty="0">
                <a:latin typeface="Times New Roman" panose="02020603050405020304" pitchFamily="18" charset="0"/>
                <a:cs typeface="Times New Roman" panose="02020603050405020304" pitchFamily="18" charset="0"/>
              </a:rPr>
              <a:t>    Accented English Speech Recognition Challenge. Accepted to ICASSP 2021.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arXiv:2102.09828.</a:t>
            </a:r>
          </a:p>
          <a:p>
            <a:r>
              <a:rPr lang="en-US" sz="1600" dirty="0">
                <a:latin typeface="Times New Roman" panose="02020603050405020304" pitchFamily="18" charset="0"/>
                <a:cs typeface="Times New Roman" panose="02020603050405020304" pitchFamily="18" charset="0"/>
              </a:rPr>
              <a:t>    Retrieved from https://arxiv.org/abs/2102.09828</a:t>
            </a:r>
          </a:p>
          <a:p>
            <a:pPr marL="342900" indent="-342900">
              <a:buFont typeface="+mj-lt"/>
              <a:buAutoNum type="arabicParenR"/>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6) </a:t>
            </a:r>
            <a:r>
              <a:rPr lang="en-US" sz="1600" dirty="0" err="1">
                <a:latin typeface="Times New Roman" panose="02020603050405020304" pitchFamily="18" charset="0"/>
                <a:cs typeface="Times New Roman" panose="02020603050405020304" pitchFamily="18" charset="0"/>
              </a:rPr>
              <a:t>Lesnichaia</a:t>
            </a:r>
            <a:r>
              <a:rPr lang="en-US" sz="1600" dirty="0">
                <a:latin typeface="Times New Roman" panose="02020603050405020304" pitchFamily="18" charset="0"/>
                <a:cs typeface="Times New Roman" panose="02020603050405020304" pitchFamily="18" charset="0"/>
              </a:rPr>
              <a:t>, M., </a:t>
            </a:r>
            <a:r>
              <a:rPr lang="en-US" sz="1600" dirty="0" err="1">
                <a:latin typeface="Times New Roman" panose="02020603050405020304" pitchFamily="18" charset="0"/>
                <a:cs typeface="Times New Roman" panose="02020603050405020304" pitchFamily="18" charset="0"/>
              </a:rPr>
              <a:t>Khaustova</a:t>
            </a:r>
            <a:r>
              <a:rPr lang="en-US" sz="1600" dirty="0">
                <a:latin typeface="Times New Roman" panose="02020603050405020304" pitchFamily="18" charset="0"/>
                <a:cs typeface="Times New Roman" panose="02020603050405020304" pitchFamily="18" charset="0"/>
              </a:rPr>
              <a:t>, V., </a:t>
            </a:r>
            <a:r>
              <a:rPr lang="en-US" sz="1600" dirty="0" err="1">
                <a:latin typeface="Times New Roman" panose="02020603050405020304" pitchFamily="18" charset="0"/>
                <a:cs typeface="Times New Roman" panose="02020603050405020304" pitchFamily="18" charset="0"/>
              </a:rPr>
              <a:t>Bogach</a:t>
            </a:r>
            <a:r>
              <a:rPr lang="en-US" sz="1600" dirty="0">
                <a:latin typeface="Times New Roman" panose="02020603050405020304" pitchFamily="18" charset="0"/>
                <a:cs typeface="Times New Roman" panose="02020603050405020304" pitchFamily="18" charset="0"/>
              </a:rPr>
              <a:t>, N., </a:t>
            </a:r>
            <a:r>
              <a:rPr lang="en-US" sz="1600" dirty="0" err="1">
                <a:latin typeface="Times New Roman" panose="02020603050405020304" pitchFamily="18" charset="0"/>
                <a:cs typeface="Times New Roman" panose="02020603050405020304" pitchFamily="18" charset="0"/>
              </a:rPr>
              <a:t>Lezhenin</a:t>
            </a:r>
            <a:r>
              <a:rPr lang="en-US" sz="1600" dirty="0">
                <a:latin typeface="Times New Roman" panose="02020603050405020304" pitchFamily="18" charset="0"/>
                <a:cs typeface="Times New Roman" panose="02020603050405020304" pitchFamily="18" charset="0"/>
              </a:rPr>
              <a:t>, I., Blake, J., &amp; </a:t>
            </a:r>
            <a:r>
              <a:rPr lang="en-US" sz="1600" dirty="0" err="1">
                <a:latin typeface="Times New Roman" panose="02020603050405020304" pitchFamily="18" charset="0"/>
                <a:cs typeface="Times New Roman" panose="02020603050405020304" pitchFamily="18" charset="0"/>
              </a:rPr>
              <a:t>Pyshkin</a:t>
            </a:r>
            <a:r>
              <a:rPr lang="en-US" sz="1600" dirty="0">
                <a:latin typeface="Times New Roman" panose="02020603050405020304" pitchFamily="18" charset="0"/>
                <a:cs typeface="Times New Roman" panose="02020603050405020304" pitchFamily="18" charset="0"/>
              </a:rPr>
              <a:t>, E. (2022). Classification of</a:t>
            </a:r>
          </a:p>
          <a:p>
            <a:r>
              <a:rPr lang="en-US" sz="1600" dirty="0">
                <a:latin typeface="Times New Roman" panose="02020603050405020304" pitchFamily="18" charset="0"/>
                <a:cs typeface="Times New Roman" panose="02020603050405020304" pitchFamily="18" charset="0"/>
              </a:rPr>
              <a:t>    Accented English Using CNN Model Trained on Amplitude Mel-Spectrograms. In Proceedings of </a:t>
            </a:r>
            <a:r>
              <a:rPr lang="en-US" sz="1600" dirty="0" err="1">
                <a:latin typeface="Times New Roman" panose="02020603050405020304" pitchFamily="18" charset="0"/>
                <a:cs typeface="Times New Roman" panose="02020603050405020304" pitchFamily="18" charset="0"/>
              </a:rPr>
              <a:t>Interspeech</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2022 (pp. 3669-3673). DOI: 10.21437/Interspeech.2022-462.</a:t>
            </a:r>
          </a:p>
          <a:p>
            <a:pPr marL="342900" indent="-342900">
              <a:buFont typeface="+mj-lt"/>
              <a:buAutoNum type="arabicParenR"/>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7) S. Darshana, H. </a:t>
            </a:r>
            <a:r>
              <a:rPr lang="en-US" sz="1600" dirty="0" err="1">
                <a:latin typeface="Times New Roman" panose="02020603050405020304" pitchFamily="18" charset="0"/>
                <a:cs typeface="Times New Roman" panose="02020603050405020304" pitchFamily="18" charset="0"/>
              </a:rPr>
              <a:t>Theivaprakasham</a:t>
            </a:r>
            <a:r>
              <a:rPr lang="en-US" sz="1600" dirty="0">
                <a:latin typeface="Times New Roman" panose="02020603050405020304" pitchFamily="18" charset="0"/>
                <a:cs typeface="Times New Roman" panose="02020603050405020304" pitchFamily="18" charset="0"/>
              </a:rPr>
              <a:t>, G. </a:t>
            </a:r>
            <a:r>
              <a:rPr lang="en-US" sz="1600" dirty="0" err="1">
                <a:latin typeface="Times New Roman" panose="02020603050405020304" pitchFamily="18" charset="0"/>
                <a:cs typeface="Times New Roman" panose="02020603050405020304" pitchFamily="18" charset="0"/>
              </a:rPr>
              <a:t>Jyothish</a:t>
            </a:r>
            <a:r>
              <a:rPr lang="en-US" sz="1600" dirty="0">
                <a:latin typeface="Times New Roman" panose="02020603050405020304" pitchFamily="18" charset="0"/>
                <a:cs typeface="Times New Roman" panose="02020603050405020304" pitchFamily="18" charset="0"/>
              </a:rPr>
              <a:t> Lal, B. </a:t>
            </a:r>
            <a:r>
              <a:rPr lang="en-US" sz="1600" dirty="0" err="1">
                <a:latin typeface="Times New Roman" panose="02020603050405020304" pitchFamily="18" charset="0"/>
                <a:cs typeface="Times New Roman" panose="02020603050405020304" pitchFamily="18" charset="0"/>
              </a:rPr>
              <a:t>Premjith</a:t>
            </a:r>
            <a:r>
              <a:rPr lang="en-US" sz="1600" dirty="0">
                <a:latin typeface="Times New Roman" panose="02020603050405020304" pitchFamily="18" charset="0"/>
                <a:cs typeface="Times New Roman" panose="02020603050405020304" pitchFamily="18" charset="0"/>
              </a:rPr>
              <a:t>, V. Sowmya and K. Soman, "MARS: A Hybrid</a:t>
            </a:r>
          </a:p>
          <a:p>
            <a:r>
              <a:rPr lang="en-US" sz="1600" dirty="0">
                <a:latin typeface="Times New Roman" panose="02020603050405020304" pitchFamily="18" charset="0"/>
                <a:cs typeface="Times New Roman" panose="02020603050405020304" pitchFamily="18" charset="0"/>
              </a:rPr>
              <a:t>    Deep CNN-based Multi-Accent Recognition System for English Language," 2022 First International Conference</a:t>
            </a:r>
          </a:p>
          <a:p>
            <a:r>
              <a:rPr lang="en-US" sz="1600" dirty="0">
                <a:latin typeface="Times New Roman" panose="02020603050405020304" pitchFamily="18" charset="0"/>
                <a:cs typeface="Times New Roman" panose="02020603050405020304" pitchFamily="18" charset="0"/>
              </a:rPr>
              <a:t>    on Artificial Intelligence Trends and Pattern Recognition (ICAITPR), Hyderabad, India, 2022, pp. 1-6,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10.1109/ICAITPR51569.2022.9844177.</a:t>
            </a:r>
          </a:p>
          <a:p>
            <a:pPr marL="342900" indent="-342900">
              <a:buFont typeface="+mj-lt"/>
              <a:buAutoNum type="arabicParenR"/>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8) </a:t>
            </a:r>
            <a:r>
              <a:rPr lang="en-US" sz="1600" dirty="0" err="1">
                <a:latin typeface="Times New Roman" panose="02020603050405020304" pitchFamily="18" charset="0"/>
                <a:cs typeface="Times New Roman" panose="02020603050405020304" pitchFamily="18" charset="0"/>
              </a:rPr>
              <a:t>Widyowaty</a:t>
            </a:r>
            <a:r>
              <a:rPr lang="en-US" sz="1600" dirty="0">
                <a:latin typeface="Times New Roman" panose="02020603050405020304" pitchFamily="18" charset="0"/>
                <a:cs typeface="Times New Roman" panose="02020603050405020304" pitchFamily="18" charset="0"/>
              </a:rPr>
              <a:t>, D. S., </a:t>
            </a:r>
            <a:r>
              <a:rPr lang="en-US" sz="1600" dirty="0" err="1">
                <a:latin typeface="Times New Roman" panose="02020603050405020304" pitchFamily="18" charset="0"/>
                <a:cs typeface="Times New Roman" panose="02020603050405020304" pitchFamily="18" charset="0"/>
              </a:rPr>
              <a:t>Sunyoto</a:t>
            </a:r>
            <a:r>
              <a:rPr lang="en-US" sz="1600" dirty="0">
                <a:latin typeface="Times New Roman" panose="02020603050405020304" pitchFamily="18" charset="0"/>
                <a:cs typeface="Times New Roman" panose="02020603050405020304" pitchFamily="18" charset="0"/>
              </a:rPr>
              <a:t>, A., &amp; Al </a:t>
            </a:r>
            <a:r>
              <a:rPr lang="en-US" sz="1600" dirty="0" err="1">
                <a:latin typeface="Times New Roman" panose="02020603050405020304" pitchFamily="18" charset="0"/>
                <a:cs typeface="Times New Roman" panose="02020603050405020304" pitchFamily="18" charset="0"/>
              </a:rPr>
              <a:t>Fatta</a:t>
            </a:r>
            <a:r>
              <a:rPr lang="en-US" sz="1600" dirty="0">
                <a:latin typeface="Times New Roman" panose="02020603050405020304" pitchFamily="18" charset="0"/>
                <a:cs typeface="Times New Roman" panose="02020603050405020304" pitchFamily="18" charset="0"/>
              </a:rPr>
              <a:t>, H. (2021). Accent Recognition Using Mel-Frequency Cepstral</a:t>
            </a:r>
          </a:p>
          <a:p>
            <a:r>
              <a:rPr lang="en-US" sz="1600" dirty="0">
                <a:latin typeface="Times New Roman" panose="02020603050405020304" pitchFamily="18" charset="0"/>
                <a:cs typeface="Times New Roman" panose="02020603050405020304" pitchFamily="18" charset="0"/>
              </a:rPr>
              <a:t>    Coefficients and Convolutional Neural Network. In Proceedings of the International Conference on Innovation in</a:t>
            </a:r>
          </a:p>
          <a:p>
            <a:r>
              <a:rPr lang="en-US" sz="1600" dirty="0">
                <a:latin typeface="Times New Roman" panose="02020603050405020304" pitchFamily="18" charset="0"/>
                <a:cs typeface="Times New Roman" panose="02020603050405020304" pitchFamily="18" charset="0"/>
              </a:rPr>
              <a:t>    Science and Technology (ICIST 2020) (Series: Advances in Engineering Research, Vol. K, pp. XX-XX). DOI:</a:t>
            </a:r>
          </a:p>
          <a:p>
            <a:r>
              <a:rPr lang="en-US" sz="1600" dirty="0">
                <a:latin typeface="Times New Roman" panose="02020603050405020304" pitchFamily="18" charset="0"/>
                <a:cs typeface="Times New Roman" panose="02020603050405020304" pitchFamily="18" charset="0"/>
              </a:rPr>
              <a:t>    10.2991/aer.k.211129.010</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053FEF2-30C5-8A39-FB74-41EC43C6C6F8}"/>
              </a:ext>
            </a:extLst>
          </p:cNvPr>
          <p:cNvPicPr>
            <a:picLocks noChangeAspect="1"/>
          </p:cNvPicPr>
          <p:nvPr/>
        </p:nvPicPr>
        <p:blipFill>
          <a:blip r:embed="rId3"/>
          <a:stretch>
            <a:fillRect/>
          </a:stretch>
        </p:blipFill>
        <p:spPr>
          <a:xfrm>
            <a:off x="304800" y="423287"/>
            <a:ext cx="2822693" cy="749873"/>
          </a:xfrm>
          <a:prstGeom prst="rect">
            <a:avLst/>
          </a:prstGeom>
        </p:spPr>
      </p:pic>
    </p:spTree>
    <p:extLst>
      <p:ext uri="{BB962C8B-B14F-4D97-AF65-F5344CB8AC3E}">
        <p14:creationId xmlns:p14="http://schemas.microsoft.com/office/powerpoint/2010/main" val="70714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sp>
        <p:nvSpPr>
          <p:cNvPr id="6" name="TextBox 5">
            <a:extLst>
              <a:ext uri="{FF2B5EF4-FFF2-40B4-BE49-F238E27FC236}">
                <a16:creationId xmlns:a16="http://schemas.microsoft.com/office/drawing/2014/main" id="{3C49BCF0-6F6F-8260-FCC4-A40B3F24B34A}"/>
              </a:ext>
            </a:extLst>
          </p:cNvPr>
          <p:cNvSpPr txBox="1"/>
          <p:nvPr/>
        </p:nvSpPr>
        <p:spPr>
          <a:xfrm rot="10800000" flipH="1" flipV="1">
            <a:off x="533400" y="1447800"/>
            <a:ext cx="10974440" cy="1815882"/>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9)  Tong, F., Li, T., Liao, D., Xia, S., Li, S., Hong, Q., &amp; Li, L. (2022). The XMUSPEECH System for Accented   </a:t>
            </a:r>
          </a:p>
          <a:p>
            <a:r>
              <a:rPr lang="en-US" sz="1600" dirty="0">
                <a:latin typeface="Times New Roman" panose="02020603050405020304" pitchFamily="18" charset="0"/>
                <a:cs typeface="Times New Roman" panose="02020603050405020304" pitchFamily="18" charset="0"/>
              </a:rPr>
              <a:t>      English Automatic Speech Recognition. Applied Sciences, 12, 1478. DOI: 10.3390/app12031478</a:t>
            </a:r>
          </a:p>
          <a:p>
            <a:pPr marL="342900" indent="-342900">
              <a:buFont typeface="+mj-lt"/>
              <a:buAutoNum type="arabicParenR"/>
            </a:pPr>
            <a:endParaRPr lang="en-US" sz="1600" dirty="0">
              <a:latin typeface="Times New Roman" panose="02020603050405020304" pitchFamily="18" charset="0"/>
              <a:cs typeface="Times New Roman" panose="02020603050405020304" pitchFamily="18" charset="0"/>
            </a:endParaRPr>
          </a:p>
          <a:p>
            <a:pPr marL="342900" indent="-342900">
              <a:buAutoNum type="arabicParenR" startAt="10"/>
            </a:pPr>
            <a:r>
              <a:rPr lang="en-US" sz="1600" dirty="0">
                <a:latin typeface="Times New Roman" panose="02020603050405020304" pitchFamily="18" charset="0"/>
                <a:cs typeface="Times New Roman" panose="02020603050405020304" pitchFamily="18" charset="0"/>
              </a:rPr>
              <a:t> A. Ahmed, P. </a:t>
            </a:r>
            <a:r>
              <a:rPr lang="en-US" sz="1600" dirty="0" err="1">
                <a:latin typeface="Times New Roman" panose="02020603050405020304" pitchFamily="18" charset="0"/>
                <a:cs typeface="Times New Roman" panose="02020603050405020304" pitchFamily="18" charset="0"/>
              </a:rPr>
              <a:t>Tangri</a:t>
            </a:r>
            <a:r>
              <a:rPr lang="en-US" sz="1600" dirty="0">
                <a:latin typeface="Times New Roman" panose="02020603050405020304" pitchFamily="18" charset="0"/>
                <a:cs typeface="Times New Roman" panose="02020603050405020304" pitchFamily="18" charset="0"/>
              </a:rPr>
              <a:t>, A. Panda, D. Ramani and S. </a:t>
            </a:r>
            <a:r>
              <a:rPr lang="en-US" sz="1600" dirty="0" err="1">
                <a:latin typeface="Times New Roman" panose="02020603050405020304" pitchFamily="18" charset="0"/>
                <a:cs typeface="Times New Roman" panose="02020603050405020304" pitchFamily="18" charset="0"/>
              </a:rPr>
              <a:t>Karmakar</a:t>
            </a:r>
            <a:r>
              <a:rPr lang="en-US" sz="1600" dirty="0">
                <a:latin typeface="Times New Roman" panose="02020603050405020304" pitchFamily="18" charset="0"/>
                <a:cs typeface="Times New Roman" panose="02020603050405020304" pitchFamily="18" charset="0"/>
              </a:rPr>
              <a:t>, "VFNet: A Convolutional Architecture for Accent                              </a:t>
            </a:r>
          </a:p>
          <a:p>
            <a:r>
              <a:rPr lang="en-US" sz="1600" dirty="0">
                <a:latin typeface="Times New Roman" panose="02020603050405020304" pitchFamily="18" charset="0"/>
                <a:cs typeface="Times New Roman" panose="02020603050405020304" pitchFamily="18" charset="0"/>
              </a:rPr>
              <a:t>      Classification," 2019 IEEE 16th India Council International Conference (INDICON), Rajkot, India, 2019, pp. 1-4,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10.1109/INDICON47234.2019.9030363.</a:t>
            </a:r>
          </a:p>
          <a:p>
            <a:pPr marL="342900" indent="-342900">
              <a:buFont typeface="+mj-lt"/>
              <a:buAutoNum type="arabicParenR"/>
            </a:pPr>
            <a:endParaRPr lang="en-US" sz="1600" dirty="0"/>
          </a:p>
        </p:txBody>
      </p:sp>
      <p:pic>
        <p:nvPicPr>
          <p:cNvPr id="3" name="Picture 2">
            <a:extLst>
              <a:ext uri="{FF2B5EF4-FFF2-40B4-BE49-F238E27FC236}">
                <a16:creationId xmlns:a16="http://schemas.microsoft.com/office/drawing/2014/main" id="{9A46DD71-8766-36F2-2E79-ACD6F887739F}"/>
              </a:ext>
            </a:extLst>
          </p:cNvPr>
          <p:cNvPicPr>
            <a:picLocks noChangeAspect="1"/>
          </p:cNvPicPr>
          <p:nvPr/>
        </p:nvPicPr>
        <p:blipFill>
          <a:blip r:embed="rId3"/>
          <a:stretch>
            <a:fillRect/>
          </a:stretch>
        </p:blipFill>
        <p:spPr>
          <a:xfrm>
            <a:off x="152400" y="304800"/>
            <a:ext cx="2822693" cy="749873"/>
          </a:xfrm>
          <a:prstGeom prst="rect">
            <a:avLst/>
          </a:prstGeom>
        </p:spPr>
      </p:pic>
    </p:spTree>
    <p:extLst>
      <p:ext uri="{BB962C8B-B14F-4D97-AF65-F5344CB8AC3E}">
        <p14:creationId xmlns:p14="http://schemas.microsoft.com/office/powerpoint/2010/main" val="618354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35557" y="6059775"/>
            <a:ext cx="1967483" cy="655319"/>
          </a:xfrm>
          <a:prstGeom prst="rect">
            <a:avLst/>
          </a:prstGeom>
        </p:spPr>
      </p:pic>
      <p:pic>
        <p:nvPicPr>
          <p:cNvPr id="4" name="Picture 3">
            <a:extLst>
              <a:ext uri="{FF2B5EF4-FFF2-40B4-BE49-F238E27FC236}">
                <a16:creationId xmlns:a16="http://schemas.microsoft.com/office/drawing/2014/main" id="{5DF8F885-975A-25F1-9442-6C1C7183890A}"/>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195014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75E0227-505A-4D87-9EFB-FFADA079385F}">
  <we:reference id="wa200005566" version="3.0.0.0" store="en-US" storeType="OMEX"/>
  <we:alternateReferences>
    <we:reference id="wa200005566" version="3.0.0.0"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12867</TotalTime>
  <Words>1861</Words>
  <Application>Microsoft Office PowerPoint</Application>
  <PresentationFormat>Widescreen</PresentationFormat>
  <Paragraphs>150</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Times New Roman</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Introduction and Research Interest</dc:title>
  <dc:creator>AICTE</dc:creator>
  <cp:lastModifiedBy>sandeep pulata</cp:lastModifiedBy>
  <cp:revision>436</cp:revision>
  <dcterms:created xsi:type="dcterms:W3CDTF">2022-11-08T06:15:11Z</dcterms:created>
  <dcterms:modified xsi:type="dcterms:W3CDTF">2024-04-10T06:58:58Z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2022-03-30T00:00:00Z</vt:filetime>
  </property>
  <property fmtid="{D5CDD505-2E9C-101B-9397-08002B2CF9AE}" pid="3" name="Creator">
    <vt:lpwstr>Microsoft® PowerPoint® for Microsoft 365</vt:lpwstr>
  </property>
  <property fmtid="{D5CDD505-2E9C-101B-9397-08002B2CF9AE}" pid="4" name="LastSaved">
    <vt:filetime>2022-11-08T00:00:00Z</vt:filetime>
  </property>
  <property fmtid="{D5CDD505-2E9C-101B-9397-08002B2CF9AE}" pid="5" name="Producer">
    <vt:lpwstr>Microsoft® PowerPoint® for Microsoft 365</vt:lpwstr>
  </property>
</Properties>
</file>