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
  </p:notesMasterIdLst>
  <p:sldIdLst>
    <p:sldId id="264" r:id="rId5"/>
    <p:sldId id="304" r:id="rId6"/>
    <p:sldId id="322" r:id="rId7"/>
    <p:sldId id="316" r:id="rId8"/>
    <p:sldId id="317" r:id="rId9"/>
    <p:sldId id="315" r:id="rId10"/>
    <p:sldId id="318" r:id="rId11"/>
    <p:sldId id="319" r:id="rId12"/>
    <p:sldId id="321" r:id="rId13"/>
    <p:sldId id="320" r:id="rId14"/>
    <p:sldId id="323" r:id="rId15"/>
    <p:sldId id="32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4A10D-0FC6-998B-477D-47A757E472A9}" v="14" dt="2023-12-17T11:59:29.897"/>
    <p1510:client id="{53C9F817-6F41-27AD-9AEC-1C667DFE416F}" v="82" dt="2023-12-17T12:44:20.131"/>
    <p1510:client id="{93C56E41-7179-03C1-BD11-48E88216A539}" v="1" dt="2023-12-17T05:29:20.759"/>
    <p1510:client id="{CB3C5F4E-D11F-C20F-AFB3-D13A315B4ED4}" v="6" dt="2023-12-17T12:00:21.192"/>
    <p1510:client id="{EBB019BA-D79D-5E47-9432-7277C3D840AE}" v="15" dt="2023-12-17T12:39:45.557"/>
    <p1510:client id="{F42FE4CF-E784-3096-07EC-AFCB6C68DB50}" v="21" dt="2023-12-17T12:01:27.2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CDCAA-6EFA-49F3-9D2F-0C0E0C0CBAD7}" type="datetimeFigureOut">
              <a:rPr lang="en-IN" smtClean="0"/>
              <a:t>03-04-2024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C52F7A-58E4-4250-9327-DB693A3FF11B}" type="slidenum">
              <a:rPr lang="en-IN" smtClean="0"/>
              <a:t>‹#›</a:t>
            </a:fld>
            <a:endParaRPr lang="en-IN"/>
          </a:p>
        </p:txBody>
      </p:sp>
    </p:spTree>
    <p:extLst>
      <p:ext uri="{BB962C8B-B14F-4D97-AF65-F5344CB8AC3E}">
        <p14:creationId xmlns:p14="http://schemas.microsoft.com/office/powerpoint/2010/main" val="2066154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4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325486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024872"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5" name="Picture 4" descr="A close up of a logo&#10;&#10;Description automatically generated">
            <a:extLst>
              <a:ext uri="{FF2B5EF4-FFF2-40B4-BE49-F238E27FC236}">
                <a16:creationId xmlns:a16="http://schemas.microsoft.com/office/drawing/2014/main" id="{DAF3D3DE-4523-4272-BE59-8D2437F581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166879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092436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8066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5" descr="A close up of a logo&#10;&#10;Description automatically generated">
            <a:extLst>
              <a:ext uri="{FF2B5EF4-FFF2-40B4-BE49-F238E27FC236}">
                <a16:creationId xmlns:a16="http://schemas.microsoft.com/office/drawing/2014/main" id="{7C636576-C435-4227-AE32-FBC777B3BDE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39624" cy="655982"/>
          </a:xfrm>
          <a:prstGeom prst="rect">
            <a:avLst/>
          </a:prstGeom>
        </p:spPr>
      </p:pic>
      <p:sp>
        <p:nvSpPr>
          <p:cNvPr id="8" name="Title 1">
            <a:extLst>
              <a:ext uri="{FF2B5EF4-FFF2-40B4-BE49-F238E27FC236}">
                <a16:creationId xmlns:a16="http://schemas.microsoft.com/office/drawing/2014/main" id="{80076A84-695B-4D81-B65B-036D08E10D12}"/>
              </a:ext>
            </a:extLst>
          </p:cNvPr>
          <p:cNvSpPr>
            <a:spLocks noGrp="1"/>
          </p:cNvSpPr>
          <p:nvPr>
            <p:ph type="title"/>
          </p:nvPr>
        </p:nvSpPr>
        <p:spPr>
          <a:xfrm>
            <a:off x="838200" y="365126"/>
            <a:ext cx="9997440"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22719106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8314"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78314"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8" name="Picture 7" descr="A close up of a logo&#10;&#10;Description automatically generated">
            <a:extLst>
              <a:ext uri="{FF2B5EF4-FFF2-40B4-BE49-F238E27FC236}">
                <a16:creationId xmlns:a16="http://schemas.microsoft.com/office/drawing/2014/main" id="{C9ECDAE0-0A74-4D72-8A95-D1CE68BB8C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733677" y="6002200"/>
            <a:ext cx="2120251" cy="655982"/>
          </a:xfrm>
          <a:prstGeom prst="rect">
            <a:avLst/>
          </a:prstGeom>
        </p:spPr>
      </p:pic>
      <p:sp>
        <p:nvSpPr>
          <p:cNvPr id="10" name="Title 1">
            <a:extLst>
              <a:ext uri="{FF2B5EF4-FFF2-40B4-BE49-F238E27FC236}">
                <a16:creationId xmlns:a16="http://schemas.microsoft.com/office/drawing/2014/main" id="{92D40324-116D-46BF-A0D8-ACBB1FA58BAE}"/>
              </a:ext>
            </a:extLst>
          </p:cNvPr>
          <p:cNvSpPr>
            <a:spLocks noGrp="1"/>
          </p:cNvSpPr>
          <p:nvPr>
            <p:ph type="title"/>
          </p:nvPr>
        </p:nvSpPr>
        <p:spPr>
          <a:xfrm>
            <a:off x="838200" y="365126"/>
            <a:ext cx="10015728"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2305533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1D5A8173-029E-4575-B1BE-7D44B32D742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356520" y="6017547"/>
            <a:ext cx="2457784" cy="655982"/>
          </a:xfrm>
          <a:prstGeom prst="rect">
            <a:avLst/>
          </a:prstGeom>
        </p:spPr>
      </p:pic>
      <p:sp>
        <p:nvSpPr>
          <p:cNvPr id="6" name="Title 1">
            <a:extLst>
              <a:ext uri="{FF2B5EF4-FFF2-40B4-BE49-F238E27FC236}">
                <a16:creationId xmlns:a16="http://schemas.microsoft.com/office/drawing/2014/main" id="{FF2D2E05-3817-4F9D-BBEF-1D4FF77C6B84}"/>
              </a:ext>
            </a:extLst>
          </p:cNvPr>
          <p:cNvSpPr>
            <a:spLocks noGrp="1"/>
          </p:cNvSpPr>
          <p:nvPr>
            <p:ph type="title"/>
          </p:nvPr>
        </p:nvSpPr>
        <p:spPr>
          <a:xfrm>
            <a:off x="838200" y="365126"/>
            <a:ext cx="9976104"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19639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A close up of a logo&#10;&#10;Description automatically generated">
            <a:extLst>
              <a:ext uri="{FF2B5EF4-FFF2-40B4-BE49-F238E27FC236}">
                <a16:creationId xmlns:a16="http://schemas.microsoft.com/office/drawing/2014/main" id="{5BF30093-AF1A-473D-8459-D65A198D7E3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2813677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CAE8CF87-0C27-479A-9FCC-F0FA64D1A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9108347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0484F575-B956-41D8-9BD9-542DF1FD66F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3021825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3990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50354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01103" y="3538672"/>
            <a:ext cx="5989790" cy="2215991"/>
          </a:xfrm>
          <a:prstGeom prst="rect">
            <a:avLst/>
          </a:prstGeom>
          <a:solidFill>
            <a:srgbClr val="AE1237"/>
          </a:solidFill>
        </p:spPr>
        <p:txBody>
          <a:bodyPr wrap="square" lIns="91440" tIns="45720" rIns="91440" bIns="45720" rtlCol="0" anchor="t">
            <a:spAutoFit/>
          </a:bodyPr>
          <a:lstStyle/>
          <a:p>
            <a:pPr algn="ctr"/>
            <a:endParaRPr lang="en-IN" sz="1200" dirty="0">
              <a:solidFill>
                <a:schemeClr val="bg1"/>
              </a:solidFill>
            </a:endParaRPr>
          </a:p>
          <a:p>
            <a:pPr algn="ctr"/>
            <a:r>
              <a:rPr lang="en-IN" sz="2400" b="1" dirty="0">
                <a:solidFill>
                  <a:schemeClr val="bg1"/>
                </a:solidFill>
                <a:latin typeface="Times New Roman"/>
                <a:cs typeface="Times New Roman"/>
              </a:rPr>
              <a:t>Name and register number of the members:</a:t>
            </a:r>
          </a:p>
          <a:p>
            <a:pPr algn="ctr"/>
            <a:endParaRPr lang="en-IN" sz="2400" b="1" dirty="0">
              <a:solidFill>
                <a:schemeClr val="bg1"/>
              </a:solidFill>
              <a:latin typeface="Times New Roman"/>
              <a:cs typeface="Times New Roman"/>
            </a:endParaRPr>
          </a:p>
          <a:p>
            <a:pPr algn="ctr"/>
            <a:r>
              <a:rPr lang="en-IN" dirty="0">
                <a:solidFill>
                  <a:schemeClr val="bg1"/>
                </a:solidFill>
                <a:latin typeface="Times New Roman"/>
                <a:cs typeface="Times New Roman"/>
              </a:rPr>
              <a:t>DINGARI JAHNAVI – CH.EN.U4AIE21111</a:t>
            </a:r>
          </a:p>
          <a:p>
            <a:pPr algn="ctr"/>
            <a:r>
              <a:rPr lang="en-IN" dirty="0">
                <a:solidFill>
                  <a:schemeClr val="bg1"/>
                </a:solidFill>
                <a:latin typeface="Times New Roman"/>
                <a:cs typeface="Times New Roman"/>
              </a:rPr>
              <a:t>PULATA SANDEEP– CH.EN.U4AIE21137</a:t>
            </a:r>
          </a:p>
          <a:p>
            <a:pPr algn="ctr"/>
            <a:r>
              <a:rPr lang="en-IN" dirty="0">
                <a:solidFill>
                  <a:schemeClr val="bg1"/>
                </a:solidFill>
                <a:latin typeface="Times New Roman"/>
                <a:cs typeface="Times New Roman"/>
              </a:rPr>
              <a:t>SASANK SAMI– CH.EN.U4AIE21160</a:t>
            </a:r>
          </a:p>
          <a:p>
            <a:pPr algn="ctr"/>
            <a:endParaRPr lang="en-IN" sz="2400" dirty="0">
              <a:solidFill>
                <a:schemeClr val="bg1"/>
              </a:solidFill>
              <a:latin typeface="Times New Roman"/>
              <a:cs typeface="Times New Roman"/>
            </a:endParaRPr>
          </a:p>
        </p:txBody>
      </p:sp>
      <p:sp>
        <p:nvSpPr>
          <p:cNvPr id="5" name="Title 1">
            <a:extLst>
              <a:ext uri="{FF2B5EF4-FFF2-40B4-BE49-F238E27FC236}">
                <a16:creationId xmlns:a16="http://schemas.microsoft.com/office/drawing/2014/main" id="{26545D38-0A3D-4C11-9FB3-D68F9907547B}"/>
              </a:ext>
            </a:extLst>
          </p:cNvPr>
          <p:cNvSpPr txBox="1">
            <a:spLocks/>
          </p:cNvSpPr>
          <p:nvPr/>
        </p:nvSpPr>
        <p:spPr>
          <a:xfrm>
            <a:off x="294443" y="895766"/>
            <a:ext cx="11603113" cy="12601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5400" b="1" kern="1200">
                <a:solidFill>
                  <a:schemeClr val="tx1"/>
                </a:solidFill>
                <a:latin typeface="Arial" panose="020B0604020202020204" pitchFamily="34" charset="0"/>
                <a:ea typeface="+mj-ea"/>
                <a:cs typeface="Arial" panose="020B0604020202020204" pitchFamily="34" charset="0"/>
              </a:defRPr>
            </a:lvl1pPr>
          </a:lstStyle>
          <a:p>
            <a:r>
              <a:rPr lang="en-US" sz="3200" b="0" dirty="0">
                <a:solidFill>
                  <a:schemeClr val="accent2">
                    <a:lumMod val="50000"/>
                  </a:schemeClr>
                </a:solidFill>
                <a:effectLst>
                  <a:outerShdw blurRad="50800" dist="38100" dir="2700000" algn="tl" rotWithShape="0">
                    <a:prstClr val="black">
                      <a:alpha val="40000"/>
                    </a:prstClr>
                  </a:outerShdw>
                </a:effectLst>
              </a:rPr>
              <a:t>Amrita School of Engineering, Chennai </a:t>
            </a:r>
          </a:p>
          <a:p>
            <a:r>
              <a:rPr lang="en-US" sz="3200" b="0" dirty="0">
                <a:solidFill>
                  <a:schemeClr val="accent2">
                    <a:lumMod val="50000"/>
                  </a:schemeClr>
                </a:solidFill>
                <a:effectLst>
                  <a:outerShdw blurRad="50800" dist="38100" dir="2700000" algn="tl" rotWithShape="0">
                    <a:prstClr val="black">
                      <a:alpha val="40000"/>
                    </a:prstClr>
                  </a:outerShdw>
                </a:effectLst>
              </a:rPr>
              <a:t>Amrita Vishwa Vidyapeetham </a:t>
            </a:r>
          </a:p>
        </p:txBody>
      </p:sp>
      <p:pic>
        <p:nvPicPr>
          <p:cNvPr id="6" name="Picture 5" descr="A close up of a logo&#10;&#10;Description automatically generated">
            <a:extLst>
              <a:ext uri="{FF2B5EF4-FFF2-40B4-BE49-F238E27FC236}">
                <a16:creationId xmlns:a16="http://schemas.microsoft.com/office/drawing/2014/main" id="{15E7FE2C-4E59-4E51-8741-A5AE2F7816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90389" y="-3189"/>
            <a:ext cx="2520274" cy="1260137"/>
          </a:xfrm>
          <a:prstGeom prst="rect">
            <a:avLst/>
          </a:prstGeom>
        </p:spPr>
      </p:pic>
      <p:sp>
        <p:nvSpPr>
          <p:cNvPr id="3" name="TextBox 2">
            <a:extLst>
              <a:ext uri="{FF2B5EF4-FFF2-40B4-BE49-F238E27FC236}">
                <a16:creationId xmlns:a16="http://schemas.microsoft.com/office/drawing/2014/main" id="{0100F3D1-8731-8544-04BC-71F77A3265F9}"/>
              </a:ext>
            </a:extLst>
          </p:cNvPr>
          <p:cNvSpPr txBox="1"/>
          <p:nvPr/>
        </p:nvSpPr>
        <p:spPr>
          <a:xfrm>
            <a:off x="973492" y="2431789"/>
            <a:ext cx="10245013" cy="461665"/>
          </a:xfrm>
          <a:prstGeom prst="rect">
            <a:avLst/>
          </a:prstGeom>
          <a:noFill/>
        </p:spPr>
        <p:txBody>
          <a:bodyPr wrap="square">
            <a:spAutoFit/>
          </a:bodyPr>
          <a:lstStyle/>
          <a:p>
            <a:pPr algn="ctr"/>
            <a:r>
              <a:rPr lang="en-US" sz="2400" b="1" i="0" dirty="0">
                <a:solidFill>
                  <a:srgbClr val="1F2328"/>
                </a:solidFill>
                <a:effectLst/>
                <a:latin typeface="-apple-system"/>
              </a:rPr>
              <a:t>Voice Spoof Detection Using Deep Learning </a:t>
            </a:r>
          </a:p>
        </p:txBody>
      </p:sp>
    </p:spTree>
    <p:extLst>
      <p:ext uri="{BB962C8B-B14F-4D97-AF65-F5344CB8AC3E}">
        <p14:creationId xmlns:p14="http://schemas.microsoft.com/office/powerpoint/2010/main" val="36633384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E09647-B39C-C8A7-1280-01DCEDA4C9E4}"/>
              </a:ext>
            </a:extLst>
          </p:cNvPr>
          <p:cNvSpPr txBox="1"/>
          <p:nvPr/>
        </p:nvSpPr>
        <p:spPr>
          <a:xfrm>
            <a:off x="243337" y="304635"/>
            <a:ext cx="11705326" cy="5942781"/>
          </a:xfrm>
          <a:prstGeom prst="rect">
            <a:avLst/>
          </a:prstGeom>
          <a:noFill/>
        </p:spPr>
        <p:txBody>
          <a:bodyPr wrap="square">
            <a:spAutoFit/>
          </a:bodyPr>
          <a:lstStyle/>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BASE -PAPER -1 </a:t>
            </a:r>
          </a:p>
          <a:p>
            <a:pPr lvl="0">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Title: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Towards the Development of a Real-Time Deepfake Audio Detection System in Communication Platforms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arXiv</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sz="1200" dirty="0" err="1">
                <a:effectLst/>
                <a:latin typeface="Times New Roman" panose="02020603050405020304" pitchFamily="18" charset="0"/>
                <a:ea typeface="Calibri" panose="020F0502020204030204" pitchFamily="34" charset="0"/>
                <a:cs typeface="Times New Roman" panose="02020603050405020304" pitchFamily="18" charset="0"/>
              </a:rPr>
              <a:t>Jonat</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John Mathew1, </a:t>
            </a:r>
            <a:r>
              <a:rPr lang="en-IN" sz="1200" dirty="0" err="1">
                <a:effectLst/>
                <a:latin typeface="Times New Roman" panose="02020603050405020304" pitchFamily="18" charset="0"/>
                <a:ea typeface="Calibri" panose="020F0502020204030204" pitchFamily="34" charset="0"/>
                <a:cs typeface="Times New Roman" panose="02020603050405020304" pitchFamily="18" charset="0"/>
              </a:rPr>
              <a:t>Rakin</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Ahsan1, Sae Furukawa1, Jagdish Gautham Krishna Kumar1, Huzaifa Pallan1, </a:t>
            </a:r>
            <a:r>
              <a:rPr lang="en-IN" sz="1200" dirty="0" err="1">
                <a:effectLst/>
                <a:latin typeface="Times New Roman" panose="02020603050405020304" pitchFamily="18" charset="0"/>
                <a:ea typeface="Calibri" panose="020F0502020204030204" pitchFamily="34" charset="0"/>
                <a:cs typeface="Times New Roman" panose="02020603050405020304" pitchFamily="18" charset="0"/>
              </a:rPr>
              <a:t>Agamjeet</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Singh Padda1, Sara Adamski1, Madhu Reddiboina1, Arjun Pankajakshan1.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2024</a:t>
            </a:r>
          </a:p>
          <a:p>
            <a:pPr lvl="0">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The objective of the research is to develop a real-time deepfake audio detection system for communication platforms, specifically focusing on enhancing audio stream integrity. This involves assessing the viability of employing static deepfake audio detection models in real-time scenarios, particularly within communication platforms like Microsoft Teams.</a:t>
            </a:r>
            <a:endParaRPr lang="en-IN" sz="12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Deep learning architectures (Resnet and LCNN) for deepfake audio detection. Python programming language for software development.</a:t>
            </a:r>
            <a:r>
              <a:rPr lang="en-IN" sz="12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Libraries and frameworks such as TensorFlow,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Librosa</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PySimpleGUI</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 Soundcard, Plyer, etc., for implementation.</a:t>
            </a: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 </a:t>
            </a:r>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IN" sz="1200" kern="100" dirty="0" err="1">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ASVspoof</a:t>
            </a:r>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2019 dataset is utilized for training and evaluating the deepfake audio detection models. It consists of logical access (LA) and physical access (PA) challenges, encompassing both </a:t>
            </a:r>
            <a:r>
              <a:rPr lang="en-IN" sz="1200" kern="100" dirty="0" err="1">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bonafide</a:t>
            </a:r>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and spoofed utterances. The dataset includes a variety of scenarios to mimic real-world conditions for audio spoofing attacks.</a:t>
            </a:r>
            <a:endParaRPr lang="en-IN" sz="12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Implementation of static deepfake audio detection models using Resnet and LCNN architectures.</a:t>
            </a:r>
            <a:r>
              <a:rPr lang="en-IN" sz="12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Development of an executable software application for cross-platform compatibility. Training and evaluation of the models using the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2019 dataset . Real-time testing of the models in Microsoft Teams meeting sessions.</a:t>
            </a:r>
            <a:r>
              <a:rPr lang="en-IN" sz="12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Proposed strategies for enhancing the models for real-time deployment in communication platforms.</a:t>
            </a: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The evaluation metrics used for benchmarking the models include the tandem detection cost function (t-DCF) and the equal error rate (EER). These metrics are commonly used in speaker verification and spoofing detection tasks to assess the performance of the models.</a:t>
            </a: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The outcome of the research is the development of static deepfake audio detection models and a software application capable of real-time execution. The models achieved benchmark performances compared to </a:t>
            </a:r>
            <a:r>
              <a:rPr lang="en-IN" sz="1200" kern="100" dirty="0" err="1">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ASVspoof</a:t>
            </a:r>
            <a:r>
              <a:rPr lang="en-IN" sz="12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2019 challenge baselines. However, there were limitations observed when deploying the models in real-time communication scenarios.</a:t>
            </a:r>
          </a:p>
          <a:p>
            <a:pPr>
              <a:lnSpc>
                <a:spcPct val="107000"/>
              </a:lnSpc>
            </a:pPr>
            <a:endParaRPr lang="en-IN" sz="12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static nature of the training data may lead to overfitting and limited generalization in real-time scenarios. The dataset used for training may not fully represent the dynamic variations encountered in communication platforms.</a:t>
            </a:r>
            <a:r>
              <a:rPr lang="en-IN" sz="12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models showed reduced performance in real-time communication scenarios compared to evaluation data.</a:t>
            </a:r>
            <a:endParaRPr lang="en-IN"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Augmentation of training data with additional conversational, noisy, and fragmented speech data. Development of novel data augmentation methods tailored to communication platform artifacts.</a:t>
            </a:r>
            <a:r>
              <a:rPr lang="en-IN" sz="12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Integration of generative models for synthesizing additional training samples.</a:t>
            </a:r>
            <a:r>
              <a:rPr lang="en-IN" sz="12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Further research to enhance the robustness and efficiency of deepfake audio detection models for real-time deployment in communication platforms.</a:t>
            </a:r>
          </a:p>
          <a:p>
            <a:pPr lvl="0">
              <a:lnSpc>
                <a:spcPct val="107000"/>
              </a:lnSpc>
              <a:spcAft>
                <a:spcPts val="800"/>
              </a:spcAft>
            </a:pP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25262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E09647-B39C-C8A7-1280-01DCEDA4C9E4}"/>
              </a:ext>
            </a:extLst>
          </p:cNvPr>
          <p:cNvSpPr txBox="1"/>
          <p:nvPr/>
        </p:nvSpPr>
        <p:spPr>
          <a:xfrm>
            <a:off x="243337" y="304635"/>
            <a:ext cx="11705326" cy="5467651"/>
          </a:xfrm>
          <a:prstGeom prst="rect">
            <a:avLst/>
          </a:prstGeom>
          <a:noFill/>
        </p:spPr>
        <p:txBody>
          <a:bodyPr wrap="square">
            <a:spAutoFit/>
          </a:bodyPr>
          <a:lstStyle/>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PAPER -</a:t>
            </a:r>
            <a:r>
              <a:rPr lang="en-IN" sz="1200" b="1" kern="100" dirty="0">
                <a:latin typeface="Times New Roman" panose="02020603050405020304" pitchFamily="18" charset="0"/>
                <a:ea typeface="Calibri" panose="020F0502020204030204" pitchFamily="34" charset="0"/>
                <a:cs typeface="Times New Roman" panose="02020603050405020304" pitchFamily="18" charset="0"/>
              </a:rPr>
              <a:t>2</a:t>
            </a:r>
          </a:p>
          <a:p>
            <a:pPr>
              <a:lnSpc>
                <a:spcPct val="107000"/>
              </a:lnSpc>
              <a:spcAft>
                <a:spcPts val="800"/>
              </a:spcAft>
            </a:pP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Title: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generative variational autoencoding for replay spoof detection in automatic speaker verification</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Computer Speech &amp; Language, Elsevier Ltd.</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2020</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objective of the study is to explore the use of deep generative variational autoencoders (VAEs) as a backend classifier for spoof detection in automatic speaker verification (ASV) systems, specifically focusing on replay attacks.</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learning, Variational Autoencoders (VAEs), Automatic Speaker Verification (ASV), Spoof Detection</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2017 and 2019 physical access subtask datasets</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proposes three alternative models utilizing VAEs for replay attack detection: </a:t>
            </a:r>
          </a:p>
          <a:p>
            <a:pPr lvl="0">
              <a:lnSpc>
                <a:spcPct val="107000"/>
              </a:lnSpc>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1. Independent training of two VAEs, one for each class (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bonafide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and spoof).</a:t>
            </a:r>
          </a:p>
          <a:p>
            <a:pPr lvl="0">
              <a:lnSpc>
                <a:spcPct val="107000"/>
              </a:lnSpc>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 Training a single conditional VAE (C-VAE) by injecting class labels during training and inference.</a:t>
            </a:r>
          </a:p>
          <a:p>
            <a:pPr lvl="0">
              <a:lnSpc>
                <a:spcPct val="107000"/>
              </a:lnSpc>
              <a:spcAft>
                <a:spcPts val="800"/>
              </a:spcAft>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3. Integrating an auxiliary classifier into the VAE modeling framework to capture discriminative information in the latent space.</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Equal Error Rate (EER), Tandem Detection Cost Function (t-DCF)</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results indicate that the C-VAE model outperforms both the naive VAE and the baseline Gaussian Mixture Model (GMM) by a significant margin in terms of EER and t-DCF on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2017 and 2019 datasets. Additionally, the study proposes VAE residuals as features for spoof detection and demonstrates substantial improvement over the VAE backend use case when combined with a convolutional neural network classifier.</a:t>
            </a:r>
          </a:p>
          <a:p>
            <a:pPr lvl="0">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acknowledges practical challenges in training VAE models for spoof detection applications and discusses approaches to overcome them. It suggests potential guidelines for future research in this domain. Additionally, it highlights the need for further exploration of deep generative models, such as VAEs, in audio spoofing detection and suggests investigating their potential for feature extraction and other applications within ASV systems.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04830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E09647-B39C-C8A7-1280-01DCEDA4C9E4}"/>
              </a:ext>
            </a:extLst>
          </p:cNvPr>
          <p:cNvSpPr txBox="1"/>
          <p:nvPr/>
        </p:nvSpPr>
        <p:spPr>
          <a:xfrm>
            <a:off x="243337" y="304635"/>
            <a:ext cx="11705326" cy="5657703"/>
          </a:xfrm>
          <a:prstGeom prst="rect">
            <a:avLst/>
          </a:prstGeom>
          <a:noFill/>
        </p:spPr>
        <p:txBody>
          <a:bodyPr wrap="square">
            <a:spAutoFit/>
          </a:bodyPr>
          <a:lstStyle/>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PAPER -</a:t>
            </a:r>
            <a:r>
              <a:rPr lang="en-IN" sz="1200" b="1" kern="100" dirty="0">
                <a:latin typeface="Times New Roman" panose="02020603050405020304" pitchFamily="18" charset="0"/>
                <a:ea typeface="Calibri" panose="020F0502020204030204" pitchFamily="34" charset="0"/>
                <a:cs typeface="Times New Roman" panose="02020603050405020304" pitchFamily="18" charset="0"/>
              </a:rPr>
              <a:t>3</a:t>
            </a: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Title: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Effect of Deep Learning Methods on Deepfake Audio Detection for Digital Investigation.</a:t>
            </a:r>
            <a:endParaRPr lang="en-IN"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Mvelo</a:t>
            </a:r>
            <a:r>
              <a:rPr lang="en-IN" sz="1200" kern="1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Mcuba</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200"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Avinash</a:t>
            </a:r>
            <a:r>
              <a:rPr lang="en-IN" sz="1200" kern="1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Singh,</a:t>
            </a:r>
            <a:r>
              <a:rPr lang="en-IN" sz="1200"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Richard</a:t>
            </a:r>
            <a:r>
              <a:rPr lang="en-IN" sz="12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Adeyemi</a:t>
            </a:r>
            <a:r>
              <a:rPr lang="en-IN" sz="1200"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Ikuesan</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200" kern="1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Hein</a:t>
            </a:r>
            <a:r>
              <a:rPr lang="en-IN" sz="1200"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Venter, ScienceDirect - Procedia Computer Science 219 (2023)</a:t>
            </a:r>
          </a:p>
          <a:p>
            <a:pPr lvl="0">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2023</a:t>
            </a: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The objective of the study is to evaluate the effectiveness of various deep learning methods in detecting deepfake audio for digital investigation purposes.</a:t>
            </a:r>
            <a:endParaRPr lang="en-IN"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Deep learning methods, particularly convolutional neural networks (CNNs), are utilized for analysing audio features. Various architectures such as VGG-16,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ResNet</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and a custom architecture are employed. The study also involves the preprocessing of audio data into visual representations like Mel-Spectrograms, MFCC, Spectrogram, and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Chromagram</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for analysis.</a:t>
            </a: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utilizes a dataset from Baidu Silicon Valley AI Lab, consisting of original audio samples, cloned speech, and altered recordings. The dataset is split into training and validation sets for experimentation.</a:t>
            </a:r>
            <a:endParaRPr lang="en-IN" sz="1200"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The methodology involves preprocessing audio samples into visual representations and training deep learning models using different architectures and optimizers. The performance of each model is evaluated based on accuracy and other metrics across various audio feature extractors.</a:t>
            </a: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evaluation metric used primarily focuses on accuracy, calculated through multiple testing trials using different optimizers and architectures. Other metrics such as Equal Error Rate (EER) and Tandem Detection Cost Function (t-DCF) are also mentioned in related works.</a:t>
            </a: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aims to assist digital forensic investigators in distinguishing between synthetic and real voices by evaluating the effectiveness of deep learning models for deepfake audio detection. The outcomes highlight the performance of different architectures and optimizers across various audio feature representations.</a:t>
            </a:r>
            <a:endParaRPr lang="en-IN"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acknowledges limitations such as the size of the dataset, which may affect the generalizability of results. Additionally, the study mentions the need for further exploration and improvement in parameters and datasets for more robust analysis. Future research intends to explore approaches to improve accuracy by collecting more diverse datasets and tweaking model parameters. Additionally, the study suggests further investigation into synthetic speech recognition and the development of more robust synthetic speech datasets. The outcomes of the study can be leveraged for multimedia forensic analysis and extended to triage deepfake videos during video analysis.</a:t>
            </a:r>
          </a:p>
          <a:p>
            <a:pPr lvl="0">
              <a:lnSpc>
                <a:spcPct val="107000"/>
              </a:lnSpc>
              <a:spcAft>
                <a:spcPts val="800"/>
              </a:spcAft>
            </a:pP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810966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E09647-B39C-C8A7-1280-01DCEDA4C9E4}"/>
              </a:ext>
            </a:extLst>
          </p:cNvPr>
          <p:cNvSpPr txBox="1"/>
          <p:nvPr/>
        </p:nvSpPr>
        <p:spPr>
          <a:xfrm>
            <a:off x="243337" y="157151"/>
            <a:ext cx="11705326" cy="5752729"/>
          </a:xfrm>
          <a:prstGeom prst="rect">
            <a:avLst/>
          </a:prstGeom>
          <a:noFill/>
        </p:spPr>
        <p:txBody>
          <a:bodyPr wrap="square">
            <a:spAutoFit/>
          </a:bodyPr>
          <a:lstStyle/>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PAPER -4</a:t>
            </a:r>
          </a:p>
          <a:p>
            <a:pPr>
              <a:lnSpc>
                <a:spcPct val="107000"/>
              </a:lnSpc>
              <a:spcAft>
                <a:spcPts val="800"/>
              </a:spcAft>
            </a:pPr>
            <a:endParaRPr lang="en-US" sz="1200" b="1"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Title: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MLAAD: The Multi-Language Audio Anti-Spoofing Dataset</a:t>
            </a: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Nicolas M.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Mu¨ller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Piotr Kawa, Wei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Herng</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Choong,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Edresson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Casanova,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Eren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Go¨lge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Thorsten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Mu¨ller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Piotr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Syga</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Philip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Sperl</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Konstantin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Bo¨ttinger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arXiv</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2024</a:t>
            </a: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objective of the paper is to address the challenge of detecting audio deepfakes and spoofs by introducing the Multi-Language Audio Anti-Spoof Dataset (MLAAD), which consists of synthesized speech in 23 different languages generated by 52 state-of-the-art text-to-speech (TTS) models. The aim is to provide a diverse dataset for training deepfake detection models to combat the spread of misinformation and enhance voice biometric security.</a:t>
            </a: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Text-to-speech (TTS) technology, machine learning (ML), deepfake detection models</a:t>
            </a: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Multi-Language Audio Anti-Spoof Dataset (MLAAD) comprises 160.2 hours of synthetic voice recordings in 23 languages, generated using 52 state-of-the-art TTS models with diverse architectures.</a:t>
            </a: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methodology involves synthesizing audio clips using TTS models trained on various datasets and architectures. The synthesized audio clips are then evaluated using state-of-the-art deepfake detection models to assess their performance in differentiating between genuine and fabricated voice recordings.</a:t>
            </a: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evaluation metric used is accuracy, which measures the effectiveness of the trained deepfake detection models in correctly classifying audio samples as authentic or spoofed.</a:t>
            </a:r>
          </a:p>
          <a:p>
            <a:pPr>
              <a:lnSpc>
                <a:spcPct val="107000"/>
              </a:lnSpc>
              <a:spcAft>
                <a:spcPts val="800"/>
              </a:spcAft>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outcome of the study demonstrates that MLAAD exhibits superior performance compared to other datasets when used for training deepfake detection models. Additionally, MLAAD complements existing datasets such as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2019, showing high performance across different evaluation datasets.</a:t>
            </a:r>
          </a:p>
          <a:p>
            <a:pPr>
              <a:lnSpc>
                <a:spcPct val="107000"/>
              </a:lnSpc>
              <a:spcAft>
                <a:spcPts val="800"/>
              </a:spcAft>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Limitations / Future Scope :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limitations of the study include the need for future work to evaluate the multi-lingual anti-spoofing capabilities of MLAAD against other comparable multi-lingual datasets. Additionally, there may be challenges in accurately processing underrepresented languages, highlighting the importance of enhancing support for these languages in deepfake detection systems. Future research could focus on further enhancing the multi-lingual anti-spoofing capabilities of MLAAD and exploring its applicability in real-world scenarios. Additionally, efforts could be made to address the challenges associated with processing underrepresented languages and improving the overall performance of deepfake detection models across diverse linguistic contexts.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671112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D1C36E-FB76-66CE-0AAE-E6A543268EA9}"/>
              </a:ext>
            </a:extLst>
          </p:cNvPr>
          <p:cNvSpPr txBox="1"/>
          <p:nvPr/>
        </p:nvSpPr>
        <p:spPr>
          <a:xfrm>
            <a:off x="265471" y="147485"/>
            <a:ext cx="11316930" cy="6007542"/>
          </a:xfrm>
          <a:prstGeom prst="rect">
            <a:avLst/>
          </a:prstGeom>
          <a:noFill/>
        </p:spPr>
        <p:txBody>
          <a:bodyPr wrap="square">
            <a:spAutoFit/>
          </a:bodyPr>
          <a:lstStyle/>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Paper-5</a:t>
            </a:r>
          </a:p>
          <a:p>
            <a:pPr lvl="0">
              <a:lnSpc>
                <a:spcPct val="107000"/>
              </a:lnSpc>
            </a:pPr>
            <a:endParaRPr lang="en-US" sz="1200" b="1"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Title: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Deep Fake Generation and Detection: Issues, Challenges, and Solutions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IT Professional, IEEE Computer Society, </a:t>
            </a:r>
            <a:r>
              <a:rPr lang="en-IN" sz="1200" dirty="0">
                <a:latin typeface="Times New Roman" panose="02020603050405020304" pitchFamily="18" charset="0"/>
                <a:cs typeface="Times New Roman" panose="02020603050405020304" pitchFamily="18" charset="0"/>
              </a:rPr>
              <a:t>Sonia Salman and </a:t>
            </a:r>
            <a:r>
              <a:rPr lang="en-IN" sz="1200" dirty="0" err="1">
                <a:latin typeface="Times New Roman" panose="02020603050405020304" pitchFamily="18" charset="0"/>
                <a:cs typeface="Times New Roman" panose="02020603050405020304" pitchFamily="18" charset="0"/>
              </a:rPr>
              <a:t>Jawwad</a:t>
            </a:r>
            <a:r>
              <a:rPr lang="en-IN" sz="1200" dirty="0">
                <a:latin typeface="Times New Roman" panose="02020603050405020304" pitchFamily="18" charset="0"/>
                <a:cs typeface="Times New Roman" panose="02020603050405020304" pitchFamily="18" charset="0"/>
              </a:rPr>
              <a:t> Ahmed Shamsi</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2023</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objective of the article is to provide an overview of deepfake generation and detection models, datasets, challenges, and opportunities. It aims to address the need for understanding the complexities of deepfake technology and providing possible solutions for detecting and mitigating deepfake content.</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article discusses various deep learning techniques, including deep neural networks (DNNs), generative adversarial networks (GANs), autoencoders, and computer vision models. It also mentions signal processing techniques for audio analysis.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article mentions several benchmark datasets used for evaluating deepfake detection methods, including Celeb DF,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FaceForensics</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DFDC, and DF-TIMIT.</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article describes different types of deepfake generation approaches, including face swapping with real audio, voice swapping, voice cloning, and generating fake audio with fake video. It also discusses deepfake detection methods, ranging from handcrafted feature-based approaches to contemporary deep learning techniques.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evaluation metrics used include accuracy, precision, recall, and F1-score for assessing the performance of deepfake detection models.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proposed deepfake generation and detection models aim to overcome limitations in existing methods by addressing challenges such as image details generation, handling occlusion, and integrating audio processing with computer vision techniques. The article emphasizes the importance of a comprehensive approach to tackle the deepfake problem.</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Some limitations of existing deepfake generation methods include difficulties in generating fine facial details and handling occlusion on faces. Additionally, deepfake detection methods may face challenges from postprocessing operations applied to deepfake videos. The article suggests future directions for research, including refining deepfake detection and generation models, addressing limitations in existing datasets, and exploring novel approaches to combat evolving deepfake technologies.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11803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D1C36E-FB76-66CE-0AAE-E6A543268EA9}"/>
              </a:ext>
            </a:extLst>
          </p:cNvPr>
          <p:cNvSpPr txBox="1"/>
          <p:nvPr/>
        </p:nvSpPr>
        <p:spPr>
          <a:xfrm>
            <a:off x="265471" y="147485"/>
            <a:ext cx="11316930" cy="6402778"/>
          </a:xfrm>
          <a:prstGeom prst="rect">
            <a:avLst/>
          </a:prstGeom>
          <a:noFill/>
        </p:spPr>
        <p:txBody>
          <a:bodyPr wrap="square">
            <a:spAutoFit/>
          </a:bodyPr>
          <a:lstStyle/>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Paper-6</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Title:</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Pre-Training of Multi-Order Acoustic Simulation for Replay Voice Spoofing Detection</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US" sz="1200" kern="100" dirty="0" err="1">
                <a:latin typeface="Times New Roman" panose="02020603050405020304" pitchFamily="18" charset="0"/>
                <a:ea typeface="Calibri" panose="020F0502020204030204" pitchFamily="34" charset="0"/>
                <a:cs typeface="Times New Roman" panose="02020603050405020304" pitchFamily="18" charset="0"/>
              </a:rPr>
              <a:t>Changhwan</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Go, Nam In Park, </a:t>
            </a:r>
            <a:r>
              <a:rPr lang="en-US" sz="1200" kern="100" dirty="0" err="1">
                <a:latin typeface="Times New Roman" panose="02020603050405020304" pitchFamily="18" charset="0"/>
                <a:ea typeface="Calibri" panose="020F0502020204030204" pitchFamily="34" charset="0"/>
                <a:cs typeface="Times New Roman" panose="02020603050405020304" pitchFamily="18" charset="0"/>
              </a:rPr>
              <a:t>Oc-Yeub</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Jeon &amp; Preprints.org</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Year of Publication:</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2023</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Objective: </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The objective of the study is to propose a method for detecting replay voice spoofing, a technique used to break into automatic speaker verification systems by forging a user's voice, by utilizing pre-training based on multi-order acoustic simulation.</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Key Technology Used:</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Deep learning, acoustic simulation, convolutional neural networks (CNN), Resnet34 architecture</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Dataset: </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The study utilizes the VCTK Corpus dataset for clean signals, the Aachen impulse response dataset for room impulse responses (RIRs), and the ASVspoof2019 PA dataset for training and evaluation.</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Methodology: </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Multi-order acoustic simulation is used to generate audio that simulates different acoustic configurations of original and replayed audio. Pre-training is performed to classify the audio into three classes: clean signal, 1st-order, and 2nd-order, using a deep learning model. The weights of the pre-training model are then fine-tuned for replay voice spoofing detection using the ASVspoof2019 PA dataset.</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Accuracy</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latin typeface="Times New Roman" panose="02020603050405020304" pitchFamily="18" charset="0"/>
                <a:ea typeface="Calibri" panose="020F0502020204030204" pitchFamily="34" charset="0"/>
                <a:cs typeface="Times New Roman" panose="02020603050405020304" pitchFamily="18" charset="0"/>
              </a:rPr>
              <a:t>Outcome:</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The proposed method aims to improve the performance of replay voice spoofing detection by leveraging pre-training based on multi-order acoustic simulation.</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a:t>
            </a: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The study assumes a simplified model of replay voice spoofing and may not capture all real-world scenarios.</a:t>
            </a:r>
          </a:p>
          <a:p>
            <a:pPr lvl="0">
              <a:lnSpc>
                <a:spcPct val="107000"/>
              </a:lnSpc>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The effectiveness of the proposed method may vary depending on the quality and diversity of the datasets used.</a:t>
            </a:r>
          </a:p>
          <a:p>
            <a:pPr lvl="0">
              <a:lnSpc>
                <a:spcPct val="107000"/>
              </a:lnSpc>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The proposed method may require significant computational resources for training deep learning models.</a:t>
            </a:r>
          </a:p>
          <a:p>
            <a:pPr lvl="0">
              <a:lnSpc>
                <a:spcPct val="107000"/>
              </a:lnSpc>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 Further research could explore the application of the proposed method to real-world scenarios and diverse datasets.</a:t>
            </a:r>
          </a:p>
          <a:p>
            <a:pPr lvl="0">
              <a:lnSpc>
                <a:spcPct val="107000"/>
              </a:lnSpc>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 Investigating additional techniques for improving the robustness and generalization of the replay voice spoofing detection model.</a:t>
            </a:r>
          </a:p>
          <a:p>
            <a:pPr lvl="0">
              <a:lnSpc>
                <a:spcPct val="107000"/>
              </a:lnSpc>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 Exploring the integration of other signal processing or machine learning techniques to enhance the performance of the detection system.</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41400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B6AB7A-C984-B871-2209-1C8F97ACBCA4}"/>
              </a:ext>
            </a:extLst>
          </p:cNvPr>
          <p:cNvSpPr/>
          <p:nvPr/>
        </p:nvSpPr>
        <p:spPr>
          <a:xfrm>
            <a:off x="8780206" y="5742039"/>
            <a:ext cx="2399071" cy="9340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ED1C36E-FB76-66CE-0AAE-E6A543268EA9}"/>
              </a:ext>
            </a:extLst>
          </p:cNvPr>
          <p:cNvSpPr txBox="1"/>
          <p:nvPr/>
        </p:nvSpPr>
        <p:spPr>
          <a:xfrm>
            <a:off x="265471" y="147485"/>
            <a:ext cx="11503742" cy="6402778"/>
          </a:xfrm>
          <a:prstGeom prst="rect">
            <a:avLst/>
          </a:prstGeom>
          <a:noFill/>
        </p:spPr>
        <p:txBody>
          <a:bodyPr wrap="square">
            <a:spAutoFit/>
          </a:bodyPr>
          <a:lstStyle/>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Paper-7</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Title: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Deepfake Detection and Low-Resource Language Speech Recognition Using Deep Learning</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Author: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Bao Thai</a:t>
            </a: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Master Thesis, Rochester Institute of Technology</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2019</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Address the challenges posed by limited data availability for low-resource languages in automatic speech recognition (ASR). Develop methods to enhance ASR performance for languages with limited training data. Investigate techniques for detecting audio spoofing, particularly in the context of fake audio generated using deep learning algorithms.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a:t>
            </a: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learning algorithms for ASR and deepfake detection. Data augmentation techniques for ASR. Convolutional-based architectures for ASR. Generative Adversarial Networks (GANs) for deepfake generation and detection.</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Seneca language dataset (endangered language spoken by a Native American tribe).  Iban language dataset (low-resource language spoken in Malaysia and Brunei).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2019 Logical Access dataset for audio spoofing detection.</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Exploration of data augmentation methods and acoustic architecture designs to improve ASR performance for low-resource languages. Investigation of transfer learning strategies to leverage high-resource languages for enhancing ASR systems on low-resource languages. Development of novel convolutional-based architectures targeting low-resource ASR. Implementation of deep learning models for detecting computer-generated speech (audio spoofing).</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a:t>
            </a: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Various metrics depending on the specific task, such as word error rate (WER) for ASR performance evaluation and accuracy metrics for deepfake detection.</a:t>
            </a:r>
          </a:p>
          <a:p>
            <a:pPr lvl="0">
              <a:lnSpc>
                <a:spcPct val="107000"/>
              </a:lnSpc>
            </a:pPr>
            <a:endPar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Proposed methods and architectures to improve ASR performance for low-resource languages and detect audio spoofing using deep learning techniques. Contribution to the advancement of technology for preserving endangered languages and combating fake audio content.</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Potential limitations may include scalability issues of the proposed methods to other languages or scenarios. Future research could focus on further refining the proposed techniques, exploring additional datasets, and addressing emerging challenges in deepfake detection and low-resource language processing.</a:t>
            </a:r>
          </a:p>
        </p:txBody>
      </p:sp>
    </p:spTree>
    <p:extLst>
      <p:ext uri="{BB962C8B-B14F-4D97-AF65-F5344CB8AC3E}">
        <p14:creationId xmlns:p14="http://schemas.microsoft.com/office/powerpoint/2010/main" val="36065982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D1C36E-FB76-66CE-0AAE-E6A543268EA9}"/>
              </a:ext>
            </a:extLst>
          </p:cNvPr>
          <p:cNvSpPr txBox="1"/>
          <p:nvPr/>
        </p:nvSpPr>
        <p:spPr>
          <a:xfrm>
            <a:off x="265471" y="147485"/>
            <a:ext cx="11316930" cy="5809924"/>
          </a:xfrm>
          <a:prstGeom prst="rect">
            <a:avLst/>
          </a:prstGeom>
          <a:noFill/>
        </p:spPr>
        <p:txBody>
          <a:bodyPr wrap="square">
            <a:spAutoFit/>
          </a:bodyPr>
          <a:lstStyle/>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Paper-8</a:t>
            </a:r>
          </a:p>
          <a:p>
            <a:pPr lvl="0">
              <a:lnSpc>
                <a:spcPct val="107000"/>
              </a:lnSpc>
            </a:pPr>
            <a:endPar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Title: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Speaker Identification, Differentiation and Verification Using Deep Learning for Human Machine Interface</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Prakhar Mishra,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Jabed</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Akhtar Choudhury, Edison Kho, Banani Basu, and Arnab Nandi, Photonics &amp; Electromagnetics Research Symposium (PIERS), published by IEEE</a:t>
            </a:r>
          </a:p>
          <a:p>
            <a:pPr lvl="0">
              <a:lnSpc>
                <a:spcPct val="107000"/>
              </a:lnSpc>
            </a:pPr>
            <a:endPar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2023</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objective of the paper is to address the challenges in speaker differentiation, verification, and identification, especially in fields like criminology and security. It aims to utilize deep learning methods to improve the accuracy and efficiency of speaker recognition systems for various applications.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Learning, specifically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Resemblyzer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model, is the primary technology used in this paper for speaker recognition and differentiation.</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paper mentions the use of various datasets, including TIMIT,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VoxCeleb</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and others, for training and evaluation of the speaker recognition system.</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methodology involves utilizing deep learning models, particularly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Resemblyzer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model, for speaker recognition, verification, and differentiation. Preprocessing techniques such as Voice Activity Detection (VAD) are also employed. The paper discusses the process of data acquisition, preprocessing, and model training.</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evaluation metrics used in the paper include Equal Error Rate (EER), Accuracy (AC), and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Diarization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Error Rate (DER) for assessing the performance of the speaker recognition system.</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paper presents a comprehensive approach to speaker recognition using deep learning, addressing tasks such as speaker identification, verification, and differentiation. It demonstrates the effectiveness of the proposed model in accurately distinguishing between speakers and detecting fake speech.</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a:t>
            </a: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paper may have limitations in terms of scalability and generalization to diverse datasets and languages. It also may not address all possible scenarios and challenges in speaker recognition. The paper suggests potential future research directions, including improving model scalability, addressing language-specific challenges, and exploring applications in real-world scenarios beyond the scope of the study.</a:t>
            </a:r>
          </a:p>
        </p:txBody>
      </p:sp>
    </p:spTree>
    <p:extLst>
      <p:ext uri="{BB962C8B-B14F-4D97-AF65-F5344CB8AC3E}">
        <p14:creationId xmlns:p14="http://schemas.microsoft.com/office/powerpoint/2010/main" val="4270545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B0E44C-AD33-8D02-BBB2-A384E03D8973}"/>
              </a:ext>
            </a:extLst>
          </p:cNvPr>
          <p:cNvSpPr/>
          <p:nvPr/>
        </p:nvSpPr>
        <p:spPr>
          <a:xfrm>
            <a:off x="8760542" y="5722374"/>
            <a:ext cx="2222090" cy="9930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6F2941C-0D48-9F5B-F0C1-E207B24EEEC5}"/>
              </a:ext>
            </a:extLst>
          </p:cNvPr>
          <p:cNvSpPr txBox="1"/>
          <p:nvPr/>
        </p:nvSpPr>
        <p:spPr>
          <a:xfrm>
            <a:off x="165257" y="0"/>
            <a:ext cx="11861486" cy="6600397"/>
          </a:xfrm>
          <a:prstGeom prst="rect">
            <a:avLst/>
          </a:prstGeom>
          <a:noFill/>
        </p:spPr>
        <p:txBody>
          <a:bodyPr wrap="square">
            <a:spAutoFit/>
          </a:bodyPr>
          <a:lstStyle/>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Paper-9</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Title: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Experimental Study: Enhancing Voice Spoofing Detection Models with Wav2vec 2.0</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Taein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Kang,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Soyul</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Han,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Sunmook</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Choi,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Jaejin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Seo,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Sanghyeok</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Chung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Seungeun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Lee,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Seungsang</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Oh, Il-</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Youp</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Kwak,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ArXiv</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(arXiv:2402.17127v1) - Cornell University</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2024</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objective of this study was to enhance voice spoofing detection models by utilizing wav2vec 2.0 as an audio feature extractor. It aimed to assess the effectiveness of wav2vec 2.0 in representing audio features and to optimize its usage within spoofing detection systems.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key technology used in this study included deep learning models, particularly wav2vec 2.0, </a:t>
            </a:r>
          </a:p>
          <a:p>
            <a:pPr lvl="0">
              <a:lnSpc>
                <a:spcPct val="107000"/>
              </a:lnSpc>
            </a:pPr>
            <a:endParaRPr lang="en-US" sz="1200" b="1"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2019 LA dataset was utilized for evaluation purposes. This dataset serves as a benchmark for testing the robustness of automatic speaker verification systems against emerging spoofing attacks.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employed a comprehensive methodology that involved selecting and fine-tuning pretrained wav2vec 2.0 models as audio feature extractors. The researchers systematically varied the number of Transformer layers and fine-tuning strategies to optimize the performance of spoofing detection systems. Various spoofing detection back-end models were integrated with wav2vec 2.0 front-ends to evaluate their effectiveness.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Metric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evaluation metrics used in this study included the equal error rate (EER) and the minimum normalized tandem detection cost function (t-DCF). These metrics were employed to assess the performance of the spoofing detection systems on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2019 LA dataset.</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demonstrated that incorporating wav2vec 2.0 as a front-end in spoofing detection systems led to significant performance enhancements compared to traditional handcrafted features. The optimized wav2vec 2.0 models, particularly when combined with certain spoofing detection back-end models, achieved state-of-the-art results in terms of EER and t-DCF on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ASVspoof</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2019 LA dataset.</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a:t>
            </a: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study acknowledged potential limitations such as computational resources and time investments required for adapting to new datasets. Additionally, the generalizability of the findings to other datasets and scenarios was not extensively explored. The future scope of the research includes further investigation into the applicability of the proposed methodology with other state-of-the-art spoofing detection models. Additionally, there is a potential for exploring the generalization of the findings to different datasets and addressing the computational challenges associated with adapting to new datasets.</a:t>
            </a:r>
          </a:p>
        </p:txBody>
      </p:sp>
    </p:spTree>
    <p:extLst>
      <p:ext uri="{BB962C8B-B14F-4D97-AF65-F5344CB8AC3E}">
        <p14:creationId xmlns:p14="http://schemas.microsoft.com/office/powerpoint/2010/main" val="20031123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D1C36E-FB76-66CE-0AAE-E6A543268EA9}"/>
              </a:ext>
            </a:extLst>
          </p:cNvPr>
          <p:cNvSpPr txBox="1"/>
          <p:nvPr/>
        </p:nvSpPr>
        <p:spPr>
          <a:xfrm>
            <a:off x="265471" y="147485"/>
            <a:ext cx="11316930" cy="6402778"/>
          </a:xfrm>
          <a:prstGeom prst="rect">
            <a:avLst/>
          </a:prstGeom>
          <a:noFill/>
        </p:spPr>
        <p:txBody>
          <a:bodyPr wrap="square">
            <a:spAutoFit/>
          </a:bodyPr>
          <a:lstStyle/>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Paper-10</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Title: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Anti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DeepFake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AI for Deep Fake Speech Recognition</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Journal Name &amp; Publisher: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Enkhtogtokh</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Togootogtokh</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Christian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Klasen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ArXiv</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hosted by Cornell University Library</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Year of Publication: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2024</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Objective: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objective of the research is to develop an AI system called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AntiDeepFake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for recognizing deepfake speech, particularly focusing on synthetic voice cloning technologies. The aim is to address the increasing prevalence of deepfake technology and its potential misuse, such as spreading misinformation and identity theft.</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Key Technology Used: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Artificial Intelligence (AI), Deep Learning, Generative AI, Gradient Boosting, Tabular Encoding and Decoding, Feature Extraction and Engineering</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Dataset:</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dataset used in the research consists of both real and synthetic audio samples labeled as genuine and fake, respectively. Real audio datasets include publicly available speech datasets like LJ Speech, while fake audio datasets are collected using synthetic voice cloning AI models.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Data Collection: Gathering real and synthetic audio samples. Feature Extraction: Extracting significant features from the audio dataset, such as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melspectrogram</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features. Feature Engineering: Selecting relevant features and improving their quality. AI Modeling: Training state-of-the-art (SOTA) models like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CatBoost</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XGBoost</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TabNet</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for classification tasks. </a:t>
            </a:r>
          </a:p>
          <a:p>
            <a:pPr lvl="0">
              <a:lnSpc>
                <a:spcPct val="107000"/>
              </a:lnSpc>
            </a:pP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Evaluation: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Assessing the performance of the models using metrics like accuracy, precision, recall, and F1-score.</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Outcome: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research proposes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AntiDeepFake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system, which demonstrates high accuracy and robustness in recognizing deepfake speech. The system utilizes SOTA AI models trained on significant features extracted from real and synthetic audio samples.</a:t>
            </a:r>
          </a:p>
          <a:p>
            <a:pPr lvl="0">
              <a:lnSpc>
                <a:spcPct val="107000"/>
              </a:lnSpc>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Limitations / Future Scope:</a:t>
            </a:r>
            <a:endParaRPr lang="en-US" sz="1200" kern="1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The research does not address the detection of deepfake videos, focusing solely on deepfake speech recognition.</a:t>
            </a: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Limited discussion on the ethical considerations and potential societal impacts of deepfake technology.</a:t>
            </a:r>
          </a:p>
          <a:p>
            <a:pPr lvl="0">
              <a:lnSpc>
                <a:spcPct val="107000"/>
              </a:lnSpc>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Further research is needed to extend the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AntiDeepFake</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system for detecting deepfake videos.</a:t>
            </a: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Exploration of additional features and methodologies to improve the detection accuracy and robustness.</a:t>
            </a:r>
          </a:p>
          <a:p>
            <a:pPr lvl="0">
              <a:lnSpc>
                <a:spcPct val="107000"/>
              </a:lnSpc>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Consideration of ethical implications and development of safeguards for responsible use of deepfake detection technology.</a:t>
            </a:r>
          </a:p>
        </p:txBody>
      </p:sp>
    </p:spTree>
    <p:extLst>
      <p:ext uri="{BB962C8B-B14F-4D97-AF65-F5344CB8AC3E}">
        <p14:creationId xmlns:p14="http://schemas.microsoft.com/office/powerpoint/2010/main" val="1417010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119819-0B1D-78E9-5617-08E2656A2282}"/>
              </a:ext>
            </a:extLst>
          </p:cNvPr>
          <p:cNvSpPr/>
          <p:nvPr/>
        </p:nvSpPr>
        <p:spPr>
          <a:xfrm>
            <a:off x="8573729" y="5633884"/>
            <a:ext cx="2802194" cy="10618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 name="Table 3">
            <a:extLst>
              <a:ext uri="{FF2B5EF4-FFF2-40B4-BE49-F238E27FC236}">
                <a16:creationId xmlns:a16="http://schemas.microsoft.com/office/drawing/2014/main" id="{F86DA7F9-2C25-2D56-47D9-D40017388B63}"/>
              </a:ext>
            </a:extLst>
          </p:cNvPr>
          <p:cNvGraphicFramePr>
            <a:graphicFrameLocks noGrp="1"/>
          </p:cNvGraphicFramePr>
          <p:nvPr>
            <p:extLst>
              <p:ext uri="{D42A27DB-BD31-4B8C-83A1-F6EECF244321}">
                <p14:modId xmlns:p14="http://schemas.microsoft.com/office/powerpoint/2010/main" val="561208773"/>
              </p:ext>
            </p:extLst>
          </p:nvPr>
        </p:nvGraphicFramePr>
        <p:xfrm>
          <a:off x="1691145" y="203256"/>
          <a:ext cx="9016184" cy="6451487"/>
        </p:xfrm>
        <a:graphic>
          <a:graphicData uri="http://schemas.openxmlformats.org/drawingml/2006/table">
            <a:tbl>
              <a:tblPr firstRow="1" bandRow="1">
                <a:tableStyleId>{5C22544A-7EE6-4342-B048-85BDC9FD1C3A}</a:tableStyleId>
              </a:tblPr>
              <a:tblGrid>
                <a:gridCol w="4291139">
                  <a:extLst>
                    <a:ext uri="{9D8B030D-6E8A-4147-A177-3AD203B41FA5}">
                      <a16:colId xmlns:a16="http://schemas.microsoft.com/office/drawing/2014/main" val="818715136"/>
                    </a:ext>
                  </a:extLst>
                </a:gridCol>
                <a:gridCol w="2455172">
                  <a:extLst>
                    <a:ext uri="{9D8B030D-6E8A-4147-A177-3AD203B41FA5}">
                      <a16:colId xmlns:a16="http://schemas.microsoft.com/office/drawing/2014/main" val="4161837032"/>
                    </a:ext>
                  </a:extLst>
                </a:gridCol>
                <a:gridCol w="2269873">
                  <a:extLst>
                    <a:ext uri="{9D8B030D-6E8A-4147-A177-3AD203B41FA5}">
                      <a16:colId xmlns:a16="http://schemas.microsoft.com/office/drawing/2014/main" val="3053848788"/>
                    </a:ext>
                  </a:extLst>
                </a:gridCol>
              </a:tblGrid>
              <a:tr h="469719">
                <a:tc>
                  <a:txBody>
                    <a:bodyPr/>
                    <a:lstStyle/>
                    <a:p>
                      <a:pPr algn="ctr"/>
                      <a:r>
                        <a:rPr lang="en-IN" sz="1200" dirty="0">
                          <a:latin typeface="Times New Roman" panose="02020603050405020304" pitchFamily="18" charset="0"/>
                          <a:cs typeface="Times New Roman" panose="02020603050405020304" pitchFamily="18" charset="0"/>
                        </a:rPr>
                        <a:t>TITLE </a:t>
                      </a:r>
                    </a:p>
                  </a:txBody>
                  <a:tcPr/>
                </a:tc>
                <a:tc>
                  <a:txBody>
                    <a:bodyPr/>
                    <a:lstStyle/>
                    <a:p>
                      <a:pPr algn="ctr"/>
                      <a:r>
                        <a:rPr lang="en-IN" sz="1200" dirty="0">
                          <a:latin typeface="Times New Roman" panose="02020603050405020304" pitchFamily="18" charset="0"/>
                          <a:cs typeface="Times New Roman" panose="02020603050405020304" pitchFamily="18" charset="0"/>
                        </a:rPr>
                        <a:t>AUTHOR</a:t>
                      </a:r>
                    </a:p>
                  </a:txBody>
                  <a:tcPr/>
                </a:tc>
                <a:tc>
                  <a:txBody>
                    <a:bodyPr/>
                    <a:lstStyle/>
                    <a:p>
                      <a:pPr algn="ctr"/>
                      <a:r>
                        <a:rPr lang="en-IN" sz="1200" dirty="0">
                          <a:latin typeface="Times New Roman" panose="02020603050405020304" pitchFamily="18" charset="0"/>
                          <a:cs typeface="Times New Roman" panose="02020603050405020304" pitchFamily="18" charset="0"/>
                        </a:rPr>
                        <a:t>DATASET</a:t>
                      </a:r>
                    </a:p>
                  </a:txBody>
                  <a:tcPr/>
                </a:tc>
                <a:extLst>
                  <a:ext uri="{0D108BD9-81ED-4DB2-BD59-A6C34878D82A}">
                    <a16:rowId xmlns:a16="http://schemas.microsoft.com/office/drawing/2014/main" val="1290079991"/>
                  </a:ext>
                </a:extLst>
              </a:tr>
              <a:tr h="587701">
                <a:tc>
                  <a:txBody>
                    <a:bodyPr/>
                    <a:lstStyle/>
                    <a:p>
                      <a:pPr algn="ct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Towards the Development of a Real-Time Deepfake Audio Detection System in Communication Platforms</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err="1">
                          <a:effectLst/>
                          <a:latin typeface="Times New Roman" panose="02020603050405020304" pitchFamily="18" charset="0"/>
                          <a:ea typeface="Calibri" panose="020F0502020204030204" pitchFamily="34" charset="0"/>
                          <a:cs typeface="Times New Roman" panose="02020603050405020304" pitchFamily="18" charset="0"/>
                        </a:rPr>
                        <a:t>Jonat</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John Mathew1, </a:t>
                      </a:r>
                      <a:r>
                        <a:rPr lang="en-IN" sz="1200" dirty="0" err="1">
                          <a:effectLst/>
                          <a:latin typeface="Times New Roman" panose="02020603050405020304" pitchFamily="18" charset="0"/>
                          <a:ea typeface="Calibri" panose="020F0502020204030204" pitchFamily="34" charset="0"/>
                          <a:cs typeface="Times New Roman" panose="02020603050405020304" pitchFamily="18" charset="0"/>
                        </a:rPr>
                        <a:t>Rakin</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Ahsan1, Sae Furukawa1</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ASV Spoof 2019</a:t>
                      </a:r>
                    </a:p>
                  </a:txBody>
                  <a:tcPr/>
                </a:tc>
                <a:extLst>
                  <a:ext uri="{0D108BD9-81ED-4DB2-BD59-A6C34878D82A}">
                    <a16:rowId xmlns:a16="http://schemas.microsoft.com/office/drawing/2014/main" val="1242783431"/>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generative variational autoencoding for replay spoof detection in automatic speaker verification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Elsevier Ltd.</a:t>
                      </a:r>
                    </a:p>
                    <a:p>
                      <a:pPr algn="ct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ASV Spoof 2017</a:t>
                      </a:r>
                    </a:p>
                  </a:txBody>
                  <a:tcPr/>
                </a:tc>
                <a:extLst>
                  <a:ext uri="{0D108BD9-81ED-4DB2-BD59-A6C34878D82A}">
                    <a16:rowId xmlns:a16="http://schemas.microsoft.com/office/drawing/2014/main" val="3179885200"/>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 Effect of Deep Learning Methods on Deepfake Audio Detection for Digital Investigation.</a:t>
                      </a:r>
                      <a:endParaRPr lang="en-IN" sz="1200" kern="100" dirty="0">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algn="ct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Mvelo</a:t>
                      </a:r>
                      <a:r>
                        <a:rPr lang="en-IN" sz="1200" kern="1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Mcuba</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200"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Avinash</a:t>
                      </a:r>
                      <a:r>
                        <a:rPr lang="en-IN" sz="1200" kern="1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Singh,</a:t>
                      </a:r>
                      <a:r>
                        <a:rPr lang="en-IN" sz="1200"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Richard</a:t>
                      </a:r>
                      <a:r>
                        <a:rPr lang="en-IN" sz="12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Adeyemi</a:t>
                      </a:r>
                      <a:r>
                        <a:rPr lang="en-IN" sz="1200"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Ikuesan</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Silicon valley labs</a:t>
                      </a:r>
                    </a:p>
                    <a:p>
                      <a:pPr algn="ct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3219262"/>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MLAAD: The Multi-Language Audio Anti-Spoofing Dataset</a:t>
                      </a:r>
                    </a:p>
                  </a:txBody>
                  <a:tcPr/>
                </a:tc>
                <a:tc>
                  <a:txBody>
                    <a:bodyPr/>
                    <a:lstStyle/>
                    <a:p>
                      <a:pPr algn="ct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Nicolas M.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Mu¨ller</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Piotr Kawa, Wei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Herng</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Choong,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Edresson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Casanova</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MLAAD</a:t>
                      </a:r>
                    </a:p>
                  </a:txBody>
                  <a:tcPr/>
                </a:tc>
                <a:extLst>
                  <a:ext uri="{0D108BD9-81ED-4DB2-BD59-A6C34878D82A}">
                    <a16:rowId xmlns:a16="http://schemas.microsoft.com/office/drawing/2014/main" val="872262986"/>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 Fake Generation and Detection: Issues, Challenges, and Solutions</a:t>
                      </a:r>
                    </a:p>
                  </a:txBody>
                  <a:tcPr/>
                </a:tc>
                <a:tc>
                  <a:txBody>
                    <a:bodyPr/>
                    <a:lstStyle/>
                    <a:p>
                      <a:pPr algn="ctr"/>
                      <a:r>
                        <a:rPr lang="en-IN" sz="1200" dirty="0">
                          <a:latin typeface="Times New Roman" panose="02020603050405020304" pitchFamily="18" charset="0"/>
                          <a:cs typeface="Times New Roman" panose="02020603050405020304" pitchFamily="18" charset="0"/>
                        </a:rPr>
                        <a:t>Sonia Salman and </a:t>
                      </a:r>
                      <a:r>
                        <a:rPr lang="en-IN" sz="1200" dirty="0" err="1">
                          <a:latin typeface="Times New Roman" panose="02020603050405020304" pitchFamily="18" charset="0"/>
                          <a:cs typeface="Times New Roman" panose="02020603050405020304" pitchFamily="18" charset="0"/>
                        </a:rPr>
                        <a:t>Jawwad</a:t>
                      </a:r>
                      <a:r>
                        <a:rPr lang="en-IN" sz="1200" dirty="0">
                          <a:latin typeface="Times New Roman" panose="02020603050405020304" pitchFamily="18" charset="0"/>
                          <a:cs typeface="Times New Roman" panose="02020603050405020304" pitchFamily="18" charset="0"/>
                        </a:rPr>
                        <a:t> Ahmed Shamsi</a:t>
                      </a:r>
                    </a:p>
                  </a:txBody>
                  <a:tcPr/>
                </a:tc>
                <a:tc>
                  <a:txBody>
                    <a:bodyPr/>
                    <a:lstStyle/>
                    <a:p>
                      <a:pPr algn="ctr"/>
                      <a:r>
                        <a:rPr lang="en-IN" sz="1200" dirty="0">
                          <a:latin typeface="Times New Roman" panose="02020603050405020304" pitchFamily="18" charset="0"/>
                          <a:cs typeface="Times New Roman" panose="02020603050405020304" pitchFamily="18" charset="0"/>
                        </a:rPr>
                        <a:t>Celeb </a:t>
                      </a:r>
                      <a:r>
                        <a:rPr lang="en-IN" sz="1200" dirty="0" err="1">
                          <a:latin typeface="Times New Roman" panose="02020603050405020304" pitchFamily="18" charset="0"/>
                          <a:cs typeface="Times New Roman" panose="02020603050405020304" pitchFamily="18" charset="0"/>
                        </a:rPr>
                        <a:t>df</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68392020"/>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latin typeface="Times New Roman" panose="02020603050405020304" pitchFamily="18" charset="0"/>
                          <a:ea typeface="Calibri" panose="020F0502020204030204" pitchFamily="34" charset="0"/>
                          <a:cs typeface="Times New Roman" panose="02020603050405020304" pitchFamily="18" charset="0"/>
                        </a:rPr>
                        <a:t>Pre-Training of Multi-Order Acoustic Simulation for Replay Voice Spoofing Detection</a:t>
                      </a:r>
                    </a:p>
                  </a:txBody>
                  <a:tcPr/>
                </a:tc>
                <a:tc>
                  <a:txBody>
                    <a:bodyPr/>
                    <a:lstStyle/>
                    <a:p>
                      <a:pPr algn="ctr"/>
                      <a:r>
                        <a:rPr lang="en-US" sz="1200" kern="100" dirty="0" err="1">
                          <a:latin typeface="Times New Roman" panose="02020603050405020304" pitchFamily="18" charset="0"/>
                          <a:ea typeface="Calibri" panose="020F0502020204030204" pitchFamily="34" charset="0"/>
                          <a:cs typeface="Times New Roman" panose="02020603050405020304" pitchFamily="18" charset="0"/>
                        </a:rPr>
                        <a:t>Changhwan</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Go, Nam In Park, </a:t>
                      </a:r>
                      <a:r>
                        <a:rPr lang="en-US" sz="1200" kern="100" dirty="0" err="1">
                          <a:latin typeface="Times New Roman" panose="02020603050405020304" pitchFamily="18" charset="0"/>
                          <a:ea typeface="Calibri" panose="020F0502020204030204" pitchFamily="34" charset="0"/>
                          <a:cs typeface="Times New Roman" panose="02020603050405020304" pitchFamily="18" charset="0"/>
                        </a:rPr>
                        <a:t>Oc-Yeub</a:t>
                      </a:r>
                      <a:r>
                        <a:rPr lang="en-US" sz="1200" kern="100" dirty="0">
                          <a:latin typeface="Times New Roman" panose="02020603050405020304" pitchFamily="18" charset="0"/>
                          <a:ea typeface="Calibri" panose="020F0502020204030204" pitchFamily="34" charset="0"/>
                          <a:cs typeface="Times New Roman" panose="02020603050405020304" pitchFamily="18" charset="0"/>
                        </a:rPr>
                        <a:t> Jeon </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VCTK Corpus</a:t>
                      </a:r>
                    </a:p>
                  </a:txBody>
                  <a:tcPr/>
                </a:tc>
                <a:extLst>
                  <a:ext uri="{0D108BD9-81ED-4DB2-BD59-A6C34878D82A}">
                    <a16:rowId xmlns:a16="http://schemas.microsoft.com/office/drawing/2014/main" val="1939552966"/>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Deepfake Detection and Low-Resource Language Speech Recognition Using Deep Learning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Bao Thai</a:t>
                      </a:r>
                    </a:p>
                    <a:p>
                      <a:pPr algn="ct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ASV Spoof 2019</a:t>
                      </a:r>
                    </a:p>
                  </a:txBody>
                  <a:tcPr/>
                </a:tc>
                <a:extLst>
                  <a:ext uri="{0D108BD9-81ED-4DB2-BD59-A6C34878D82A}">
                    <a16:rowId xmlns:a16="http://schemas.microsoft.com/office/drawing/2014/main" val="3169189045"/>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Speaker Identification, Differentiation and Verification Using Deep Learning for Human Machine Interface</a:t>
                      </a:r>
                    </a:p>
                  </a:txBody>
                  <a:tcPr/>
                </a:tc>
                <a:tc>
                  <a:txBody>
                    <a:bodyPr/>
                    <a:lstStyle/>
                    <a:p>
                      <a:pPr algn="ct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Prakhar Mishra,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Jabed</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Akhtar Choudhury, Edison Kho, Banani Basu</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Vox Celeb</a:t>
                      </a:r>
                    </a:p>
                  </a:txBody>
                  <a:tcPr/>
                </a:tc>
                <a:extLst>
                  <a:ext uri="{0D108BD9-81ED-4DB2-BD59-A6C34878D82A}">
                    <a16:rowId xmlns:a16="http://schemas.microsoft.com/office/drawing/2014/main" val="2821891631"/>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Experimental Study: Enhancing Voice Spoofing Detection Models with Wav2vec 2.0</a:t>
                      </a:r>
                    </a:p>
                  </a:txBody>
                  <a:tcPr/>
                </a:tc>
                <a:tc>
                  <a:txBody>
                    <a:bodyPr/>
                    <a:lstStyle/>
                    <a:p>
                      <a:pPr algn="ct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Taein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Kang,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Soyul</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Han,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Sunmook</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Choi,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Jaejin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Seo,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Sanghyeok</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Chung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Seungeun</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Lee</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ASV Spoof 2019</a:t>
                      </a:r>
                    </a:p>
                  </a:txBody>
                  <a:tcPr/>
                </a:tc>
                <a:extLst>
                  <a:ext uri="{0D108BD9-81ED-4DB2-BD59-A6C34878D82A}">
                    <a16:rowId xmlns:a16="http://schemas.microsoft.com/office/drawing/2014/main" val="1737413315"/>
                  </a:ext>
                </a:extLst>
              </a:tr>
              <a:tr h="5877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Anti Deep Fake: AI for Deep Fake Speech Recognition</a:t>
                      </a:r>
                    </a:p>
                  </a:txBody>
                  <a:tcPr/>
                </a:tc>
                <a:tc>
                  <a:txBody>
                    <a:bodyPr/>
                    <a:lstStyle/>
                    <a:p>
                      <a:pPr algn="ct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Enkhtogtokh</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Togootogtokh</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 Christian </a:t>
                      </a:r>
                      <a:r>
                        <a:rPr lang="en-US" sz="1200" kern="100" dirty="0" err="1">
                          <a:effectLst/>
                          <a:latin typeface="Times New Roman" panose="02020603050405020304" pitchFamily="18" charset="0"/>
                          <a:ea typeface="Calibri" panose="020F0502020204030204" pitchFamily="34" charset="0"/>
                          <a:cs typeface="Times New Roman" panose="02020603050405020304" pitchFamily="18" charset="0"/>
                        </a:rPr>
                        <a:t>Klasen</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LJ Speech Public Dataset</a:t>
                      </a:r>
                    </a:p>
                  </a:txBody>
                  <a:tcPr/>
                </a:tc>
                <a:extLst>
                  <a:ext uri="{0D108BD9-81ED-4DB2-BD59-A6C34878D82A}">
                    <a16:rowId xmlns:a16="http://schemas.microsoft.com/office/drawing/2014/main" val="2356430892"/>
                  </a:ext>
                </a:extLst>
              </a:tr>
            </a:tbl>
          </a:graphicData>
        </a:graphic>
      </p:graphicFrame>
    </p:spTree>
    <p:extLst>
      <p:ext uri="{BB962C8B-B14F-4D97-AF65-F5344CB8AC3E}">
        <p14:creationId xmlns:p14="http://schemas.microsoft.com/office/powerpoint/2010/main" val="6878614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theme/theme1.xml><?xml version="1.0" encoding="utf-8"?>
<a:theme xmlns:a="http://schemas.openxmlformats.org/drawingml/2006/main" name="1_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rita Digital Campus V1.0" id="{58E84EBF-3C9A-46FA-AC67-01E514AB1B2B}" vid="{BF34DAB5-A2D4-47C4-AD4E-D8DB5419BE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CA67C528DC284E8073580C98E8539C" ma:contentTypeVersion="14" ma:contentTypeDescription="Create a new document." ma:contentTypeScope="" ma:versionID="97ecfcb2749bb6ca24d6e38f89a5dfb4">
  <xsd:schema xmlns:xsd="http://www.w3.org/2001/XMLSchema" xmlns:xs="http://www.w3.org/2001/XMLSchema" xmlns:p="http://schemas.microsoft.com/office/2006/metadata/properties" xmlns:ns2="0107a115-4623-4481-beee-bafad199008b" xmlns:ns3="7a2a247a-f6ec-4c8f-8314-d83500b08c54" targetNamespace="http://schemas.microsoft.com/office/2006/metadata/properties" ma:root="true" ma:fieldsID="172dc70218db600ea605c46255956570" ns2:_="" ns3:_="">
    <xsd:import namespace="0107a115-4623-4481-beee-bafad199008b"/>
    <xsd:import namespace="7a2a247a-f6ec-4c8f-8314-d83500b08c5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ServiceAutoKeyPoints" minOccurs="0"/>
                <xsd:element ref="ns2:MediaServiceKeyPoints"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07a115-4623-4481-beee-bafad19900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2a247a-f6ec-4c8f-8314-d83500b08c5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3F8060A-C4F5-49F6-90F9-79FBEB3CC902}">
  <ds:schemaRefs>
    <ds:schemaRef ds:uri="0107a115-4623-4481-beee-bafad199008b"/>
    <ds:schemaRef ds:uri="7a2a247a-f6ec-4c8f-8314-d83500b08c5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5309BE7-B587-43F4-8592-76B39C023D29}">
  <ds:schemaRefs>
    <ds:schemaRef ds:uri="http://schemas.microsoft.com/sharepoint/v3/contenttype/forms"/>
  </ds:schemaRefs>
</ds:datastoreItem>
</file>

<file path=customXml/itemProps3.xml><?xml version="1.0" encoding="utf-8"?>
<ds:datastoreItem xmlns:ds="http://schemas.openxmlformats.org/officeDocument/2006/customXml" ds:itemID="{532C674B-ACDE-455C-BA7E-ACC458E5BC04}">
  <ds:schemaRefs>
    <ds:schemaRef ds:uri="0107a115-4623-4481-beee-bafad199008b"/>
    <ds:schemaRef ds:uri="7a2a247a-f6ec-4c8f-8314-d83500b08c5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1156</TotalTime>
  <Words>4109</Words>
  <Application>Microsoft Office PowerPoint</Application>
  <PresentationFormat>Widescreen</PresentationFormat>
  <Paragraphs>236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-apple-system</vt:lpstr>
      <vt:lpstr>Arial</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Introduction and Research Interest</dc:title>
  <dc:creator>AICTE</dc:creator>
  <cp:lastModifiedBy>sandeep pulata</cp:lastModifiedBy>
  <cp:revision>15</cp:revision>
  <dcterms:created xsi:type="dcterms:W3CDTF">2019-07-04T04:21:14Z</dcterms:created>
  <dcterms:modified xsi:type="dcterms:W3CDTF">2024-04-03T13:16:29Z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0x010100A2CA67C528DC284E8073580C98E8539C</vt:lpwstr>
  </property>
</Properties>
</file>